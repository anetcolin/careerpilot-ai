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90" r:id="rId2"/>
    <p:sldId id="291" r:id="rId3"/>
    <p:sldId id="292" r:id="rId4"/>
    <p:sldId id="293" r:id="rId5"/>
    <p:sldId id="312" r:id="rId6"/>
    <p:sldId id="310" r:id="rId7"/>
    <p:sldId id="311" r:id="rId8"/>
    <p:sldId id="295" r:id="rId9"/>
    <p:sldId id="296" r:id="rId10"/>
    <p:sldId id="322" r:id="rId11"/>
    <p:sldId id="298" r:id="rId12"/>
    <p:sldId id="299" r:id="rId13"/>
    <p:sldId id="301" r:id="rId14"/>
    <p:sldId id="302" r:id="rId15"/>
    <p:sldId id="303" r:id="rId16"/>
    <p:sldId id="313" r:id="rId17"/>
    <p:sldId id="314" r:id="rId18"/>
    <p:sldId id="315" r:id="rId19"/>
    <p:sldId id="316" r:id="rId20"/>
    <p:sldId id="317" r:id="rId21"/>
    <p:sldId id="318" r:id="rId22"/>
    <p:sldId id="319" r:id="rId23"/>
    <p:sldId id="320" r:id="rId24"/>
    <p:sldId id="321" r:id="rId25"/>
    <p:sldId id="304" r:id="rId26"/>
    <p:sldId id="305" r:id="rId27"/>
    <p:sldId id="306" r:id="rId28"/>
    <p:sldId id="307" r:id="rId29"/>
    <p:sldId id="308" r:id="rId30"/>
    <p:sldId id="309"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162" autoAdjust="0"/>
  </p:normalViewPr>
  <p:slideViewPr>
    <p:cSldViewPr snapToGrid="0">
      <p:cViewPr>
        <p:scale>
          <a:sx n="75" d="100"/>
          <a:sy n="75"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3065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7738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380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351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2075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771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844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8866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0765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878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7229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6136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anetrockey0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190771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sz="2000" dirty="0"/>
                        <a:t>ANET COLIN ROCKEY</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hlinkClick r:id="rId3"/>
                        </a:rPr>
                        <a:t>anetrockey04@gmail.com</a:t>
                      </a:r>
                      <a:endParaRPr lang="en-US" sz="2000" dirty="0"/>
                    </a:p>
                    <a:p>
                      <a:pPr marL="0" marR="0" lvl="0" indent="0" algn="l" rtl="0">
                        <a:spcBef>
                          <a:spcPts val="0"/>
                        </a:spcBef>
                        <a:spcAft>
                          <a:spcPts val="0"/>
                        </a:spcAft>
                        <a:buNone/>
                      </a:pP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7736711725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&amp; Career Development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err="1">
                <a:highlight>
                  <a:srgbClr val="FFFF00"/>
                </a:highlight>
              </a:rPr>
              <a:t>CareerPilot</a:t>
            </a:r>
            <a:r>
              <a:rPr lang="en-US" sz="2400" b="1" dirty="0">
                <a:highlight>
                  <a:srgbClr val="FFFF00"/>
                </a:highlight>
              </a:rPr>
              <a:t> AI</a:t>
            </a:r>
            <a:endParaRPr lang="en-IN" sz="2400" b="1" dirty="0">
              <a:highlight>
                <a:srgbClr val="FFFF00"/>
              </a:highlight>
            </a:endParaRPr>
          </a:p>
        </p:txBody>
      </p:sp>
      <p:pic>
        <p:nvPicPr>
          <p:cNvPr id="9" name="Picture 8">
            <a:extLst>
              <a:ext uri="{FF2B5EF4-FFF2-40B4-BE49-F238E27FC236}">
                <a16:creationId xmlns:a16="http://schemas.microsoft.com/office/drawing/2014/main" id="{55B71A0B-9C29-4963-BD4F-1F38B5499BCB}"/>
              </a:ext>
            </a:extLst>
          </p:cNvPr>
          <p:cNvPicPr>
            <a:picLocks noChangeAspect="1"/>
          </p:cNvPicPr>
          <p:nvPr/>
        </p:nvPicPr>
        <p:blipFill>
          <a:blip r:embed="rId4"/>
          <a:stretch>
            <a:fillRect/>
          </a:stretch>
        </p:blipFill>
        <p:spPr>
          <a:xfrm>
            <a:off x="3845016" y="3584257"/>
            <a:ext cx="1188720" cy="115461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16758"/>
          </a:xfrm>
          <a:prstGeom prst="rect">
            <a:avLst/>
          </a:prstGeom>
          <a:noFill/>
        </p:spPr>
        <p:txBody>
          <a:bodyPr wrap="square" rtlCol="0">
            <a:spAutoFit/>
          </a:bodyPr>
          <a:lstStyle/>
          <a:p>
            <a:pPr fontAlgn="base"/>
            <a:r>
              <a:rPr lang="en-US" sz="1600" b="1" dirty="0"/>
              <a:t>Problem Statement : </a:t>
            </a:r>
            <a:r>
              <a:rPr lang="en-US" sz="1600" b="1" dirty="0" err="1"/>
              <a:t>CareerPilot</a:t>
            </a:r>
            <a:r>
              <a:rPr lang="en-US" sz="1600" dirty="0"/>
              <a:t> </a:t>
            </a:r>
            <a:r>
              <a:rPr lang="en-US" sz="1600" b="1" dirty="0"/>
              <a:t>AI</a:t>
            </a:r>
            <a:r>
              <a:rPr lang="en-US" sz="1600" dirty="0"/>
              <a:t> </a:t>
            </a:r>
          </a:p>
          <a:p>
            <a:pPr fontAlgn="base"/>
            <a:r>
              <a:rPr lang="en-US" sz="1600" dirty="0"/>
              <a:t>The Challenge – Students often struggle to make informed career decisions due to fragmented access to guidance, limited self-awareness of academic strengths, and rapidly evolving industry landscapes. Traditional counseling methods lack personalization and scalability, leading to missed opportunities and career mismatches. The challenge is to develop an intelligent, autonomous agent that continuously monitors student performance, evolving interests, and real-time labor market trends to deliver tailored career pathway suggestions. This would empower students to make confident, future-ready decisions with minimal dependency on manual intervention. </a:t>
            </a:r>
          </a:p>
          <a:p>
            <a:pPr fontAlgn="base"/>
            <a:r>
              <a:rPr lang="en-US" sz="1600" b="1" dirty="0"/>
              <a:t>Objective</a:t>
            </a:r>
            <a:r>
              <a:rPr lang="en-US" sz="1600" dirty="0"/>
              <a:t> </a:t>
            </a:r>
          </a:p>
          <a:p>
            <a:pPr fontAlgn="base"/>
            <a:r>
              <a:rPr lang="en-US" sz="1600" dirty="0"/>
              <a:t>To develop an AI-powered agentic career counseling system that analyzes a student's academic background, skills, interests, projects, and career goals to provide personalized career recommendations, identify skill gaps, and generate an actionable learning roadmap for achieving their target career.</a:t>
            </a:r>
          </a:p>
          <a:p>
            <a:pPr fontAlgn="base"/>
            <a:endParaRPr lang="en-US" sz="1600" dirty="0"/>
          </a:p>
          <a:p>
            <a:r>
              <a:rPr lang="en-US" sz="1600" b="1" dirty="0"/>
              <a:t>Key Objectives</a:t>
            </a:r>
          </a:p>
          <a:p>
            <a:pPr>
              <a:buFont typeface="Arial" panose="020B0604020202020204" pitchFamily="34" charset="0"/>
              <a:buChar char="•"/>
            </a:pPr>
            <a:r>
              <a:rPr lang="en-US" sz="1600" dirty="0"/>
              <a:t> </a:t>
            </a:r>
            <a:r>
              <a:rPr lang="en-US" sz="1600" b="1" dirty="0"/>
              <a:t>Analyze</a:t>
            </a:r>
            <a:r>
              <a:rPr lang="en-US" sz="1600" dirty="0"/>
              <a:t> the student's academic and technical profile. </a:t>
            </a:r>
          </a:p>
          <a:p>
            <a:pPr>
              <a:buFont typeface="Arial" panose="020B0604020202020204" pitchFamily="34" charset="0"/>
              <a:buChar char="•"/>
            </a:pPr>
            <a:r>
              <a:rPr lang="en-US" sz="1600" dirty="0"/>
              <a:t> </a:t>
            </a:r>
            <a:r>
              <a:rPr lang="en-US" sz="1600" b="1" dirty="0"/>
              <a:t>Recommend</a:t>
            </a:r>
            <a:r>
              <a:rPr lang="en-US" sz="1600" dirty="0"/>
              <a:t> suitable career paths using AI. </a:t>
            </a:r>
          </a:p>
          <a:p>
            <a:pPr>
              <a:buFont typeface="Arial" panose="020B0604020202020204" pitchFamily="34" charset="0"/>
              <a:buChar char="•"/>
            </a:pPr>
            <a:r>
              <a:rPr lang="en-US" sz="1600" dirty="0"/>
              <a:t> </a:t>
            </a:r>
            <a:r>
              <a:rPr lang="en-US" sz="1600" b="1" dirty="0"/>
              <a:t>Identify</a:t>
            </a:r>
            <a:r>
              <a:rPr lang="en-US" sz="1600" dirty="0"/>
              <a:t> skill gaps between the student's current abilities and target career. </a:t>
            </a:r>
          </a:p>
          <a:p>
            <a:pPr>
              <a:buFont typeface="Arial" panose="020B0604020202020204" pitchFamily="34" charset="0"/>
              <a:buChar char="•"/>
            </a:pPr>
            <a:r>
              <a:rPr lang="en-US" sz="1600" dirty="0"/>
              <a:t> </a:t>
            </a:r>
            <a:r>
              <a:rPr lang="en-US" sz="1600" b="1" dirty="0"/>
              <a:t>Generate</a:t>
            </a:r>
            <a:r>
              <a:rPr lang="en-US" sz="1600" dirty="0"/>
              <a:t> a personalized, phased learning roadmap. </a:t>
            </a:r>
          </a:p>
          <a:p>
            <a:pPr>
              <a:buFont typeface="Arial" panose="020B0604020202020204" pitchFamily="34" charset="0"/>
              <a:buChar char="•"/>
            </a:pPr>
            <a:r>
              <a:rPr lang="en-US" sz="1600" dirty="0"/>
              <a:t> </a:t>
            </a:r>
            <a:r>
              <a:rPr lang="en-US" sz="1600" b="1" dirty="0"/>
              <a:t>Improve career readiness</a:t>
            </a:r>
            <a:r>
              <a:rPr lang="en-US" sz="1600" dirty="0"/>
              <a:t> through actionable guidance. </a:t>
            </a:r>
          </a:p>
          <a:p>
            <a:pPr>
              <a:buFont typeface="Arial" panose="020B0604020202020204" pitchFamily="34" charset="0"/>
              <a:buChar char="•"/>
            </a:pPr>
            <a:r>
              <a:rPr lang="en-US" sz="1600" dirty="0"/>
              <a:t> </a:t>
            </a:r>
            <a:r>
              <a:rPr lang="en-US" sz="1600" b="1" dirty="0"/>
              <a:t>Leverage IBM Granite and agentic AI</a:t>
            </a:r>
            <a:r>
              <a:rPr lang="en-US" sz="1600" dirty="0"/>
              <a:t> to automate the career counseling process. </a:t>
            </a:r>
          </a:p>
          <a:p>
            <a:pPr fontAlgn="base"/>
            <a:r>
              <a:rPr lang="en-US" sz="1600" dirty="0"/>
              <a:t>	</a:t>
            </a:r>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377184"/>
            <a:ext cx="10607040" cy="5940088"/>
          </a:xfrm>
          <a:prstGeom prst="rect">
            <a:avLst/>
          </a:prstGeom>
          <a:noFill/>
        </p:spPr>
        <p:txBody>
          <a:bodyPr wrap="square" rtlCol="0">
            <a:spAutoFit/>
          </a:bodyPr>
          <a:lstStyle/>
          <a:p>
            <a:pPr fontAlgn="base"/>
            <a:endParaRPr lang="en-US" sz="2000" b="1" dirty="0"/>
          </a:p>
          <a:p>
            <a:r>
              <a:rPr lang="en-US" sz="2000" b="1" dirty="0"/>
              <a:t>Proposed Solution: </a:t>
            </a:r>
            <a:r>
              <a:rPr lang="en-US" sz="2000" b="1" dirty="0" err="1"/>
              <a:t>CareerPilot</a:t>
            </a:r>
            <a:r>
              <a:rPr lang="en-US" sz="2000" b="1" dirty="0"/>
              <a:t> AI</a:t>
            </a:r>
          </a:p>
          <a:p>
            <a:r>
              <a:rPr lang="en-US" sz="2000" dirty="0" err="1"/>
              <a:t>CareerPilot</a:t>
            </a:r>
            <a:r>
              <a:rPr lang="en-US" sz="2000" dirty="0"/>
              <a:t> AI is an AI-powered agentic career counseling platform that provides personalized career guidance by analyzing a student's academic profile, skills, interests, projects, and target career. The system uses a multi-agent workflow powered by IBM Granite to transform this information into career recommendations, skill-gap analysis, and a personalized learning roadmap.</a:t>
            </a:r>
          </a:p>
          <a:p>
            <a:r>
              <a:rPr lang="en-IN" sz="2000" dirty="0"/>
              <a:t>The system collects information such as degree, semester, technical skills, interests, projects, and target careers and processes it through a sequence of specialized AI agents</a:t>
            </a:r>
          </a:p>
          <a:p>
            <a:r>
              <a:rPr lang="en-IN" sz="2000" dirty="0"/>
              <a:t>Powered by IBM Granite.</a:t>
            </a:r>
          </a:p>
          <a:p>
            <a:r>
              <a:rPr lang="en-US" sz="2000" dirty="0"/>
              <a:t>The system takes:</a:t>
            </a:r>
          </a:p>
          <a:p>
            <a:r>
              <a:rPr lang="en-US" sz="2000" b="1" dirty="0"/>
              <a:t>Academic Profile + Skills + Interests + Projects + Career Goal</a:t>
            </a:r>
            <a:endParaRPr lang="en-US" sz="2000" dirty="0"/>
          </a:p>
          <a:p>
            <a:r>
              <a:rPr lang="en-US" sz="2000" dirty="0"/>
              <a:t>and transforms them into:</a:t>
            </a:r>
          </a:p>
          <a:p>
            <a:r>
              <a:rPr lang="en-US" sz="2000" b="1" dirty="0"/>
              <a:t>Career Recommendations + Skill Gaps + Learning Roadmap</a:t>
            </a:r>
          </a:p>
          <a:p>
            <a:endParaRPr lang="en-US" sz="2000" dirty="0"/>
          </a:p>
          <a:p>
            <a:r>
              <a:rPr lang="en-US" sz="2000" b="1" dirty="0"/>
              <a:t>Core Approach</a:t>
            </a:r>
          </a:p>
          <a:p>
            <a:r>
              <a:rPr lang="en-US" sz="2000" dirty="0"/>
              <a:t>A multi-agent workflow divides career counseling into specialized tasks, allowing each agent to focus on a specific aspect of the student's career journey.</a:t>
            </a:r>
          </a:p>
          <a:p>
            <a:endParaRPr lang="en-IN"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16116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377184"/>
            <a:ext cx="10607040" cy="5632311"/>
          </a:xfrm>
          <a:prstGeom prst="rect">
            <a:avLst/>
          </a:prstGeom>
          <a:noFill/>
        </p:spPr>
        <p:txBody>
          <a:bodyPr wrap="square" rtlCol="0">
            <a:spAutoFit/>
          </a:bodyPr>
          <a:lstStyle/>
          <a:p>
            <a:pPr fontAlgn="base"/>
            <a:endParaRPr lang="en-US" sz="1800" b="1" dirty="0"/>
          </a:p>
          <a:p>
            <a:r>
              <a:rPr lang="en-US" sz="1800" b="1" dirty="0"/>
              <a:t>Proposed Solution: </a:t>
            </a:r>
            <a:r>
              <a:rPr lang="en-US" sz="1800" b="1" dirty="0" err="1"/>
              <a:t>CareerPilot</a:t>
            </a:r>
            <a:r>
              <a:rPr lang="en-US" sz="1800" b="1" dirty="0"/>
              <a:t> AI</a:t>
            </a:r>
          </a:p>
          <a:p>
            <a:endParaRPr lang="en-US" sz="1800" b="1" dirty="0"/>
          </a:p>
          <a:p>
            <a:pPr>
              <a:buFont typeface="+mj-lt"/>
              <a:buAutoNum type="arabicPeriod"/>
            </a:pPr>
            <a:r>
              <a:rPr lang="en-US" sz="1800" b="1" dirty="0"/>
              <a:t>Student Profile Collection</a:t>
            </a:r>
            <a:br>
              <a:rPr lang="en-US" sz="1800" dirty="0"/>
            </a:br>
            <a:r>
              <a:rPr lang="en-US" sz="1800" dirty="0"/>
              <a:t>The student enters their degree, semester, skills, interests, projects, and target career. </a:t>
            </a:r>
          </a:p>
          <a:p>
            <a:pPr>
              <a:buFont typeface="+mj-lt"/>
              <a:buAutoNum type="arabicPeriod"/>
            </a:pPr>
            <a:r>
              <a:rPr lang="en-US" sz="1800" b="1" dirty="0"/>
              <a:t>Profile Analysis Agent</a:t>
            </a:r>
            <a:br>
              <a:rPr lang="en-US" sz="1800" dirty="0"/>
            </a:br>
            <a:r>
              <a:rPr lang="en-US" sz="1800" dirty="0"/>
              <a:t>Analyzes the student's current strengths, interests, and background. </a:t>
            </a:r>
          </a:p>
          <a:p>
            <a:pPr>
              <a:buFont typeface="+mj-lt"/>
              <a:buAutoNum type="arabicPeriod"/>
            </a:pPr>
            <a:r>
              <a:rPr lang="en-US" sz="1800" b="1" dirty="0"/>
              <a:t>Career Recommendation Agent</a:t>
            </a:r>
            <a:br>
              <a:rPr lang="en-US" sz="1800" dirty="0"/>
            </a:br>
            <a:r>
              <a:rPr lang="en-US" sz="1800" dirty="0"/>
              <a:t>Identifies suitable career paths and provides reasons for the recommendations. </a:t>
            </a:r>
          </a:p>
          <a:p>
            <a:pPr>
              <a:buFont typeface="+mj-lt"/>
              <a:buAutoNum type="arabicPeriod"/>
            </a:pPr>
            <a:r>
              <a:rPr lang="en-US" sz="1800" b="1" dirty="0"/>
              <a:t>Skill Gap Analysis Agent</a:t>
            </a:r>
            <a:br>
              <a:rPr lang="en-US" sz="1800" dirty="0"/>
            </a:br>
            <a:r>
              <a:rPr lang="en-US" sz="1800" dirty="0"/>
              <a:t>Compares the student's existing skills with the requirements of the target career and identifies priority skill gaps. </a:t>
            </a:r>
          </a:p>
          <a:p>
            <a:pPr>
              <a:buFont typeface="+mj-lt"/>
              <a:buAutoNum type="arabicPeriod"/>
            </a:pPr>
            <a:r>
              <a:rPr lang="en-US" sz="1800" b="1" dirty="0"/>
              <a:t>Roadmap Generation Agent</a:t>
            </a:r>
            <a:br>
              <a:rPr lang="en-US" sz="1800" dirty="0"/>
            </a:br>
            <a:r>
              <a:rPr lang="en-US" sz="1800" dirty="0"/>
              <a:t>Creates a structured, phased learning roadmap to help the student overcome the identified gaps. </a:t>
            </a:r>
          </a:p>
          <a:p>
            <a:pPr>
              <a:buFont typeface="+mj-lt"/>
              <a:buAutoNum type="arabicPeriod"/>
            </a:pPr>
            <a:r>
              <a:rPr lang="en-US" sz="1800" b="1" dirty="0"/>
              <a:t>IBM Granite Intelligence</a:t>
            </a:r>
            <a:br>
              <a:rPr lang="en-US" sz="1800" dirty="0"/>
            </a:br>
            <a:r>
              <a:rPr lang="en-US" sz="1800" dirty="0"/>
              <a:t>IBM Granite through watsonx.ai provides the generative AI capabilities used by the specialized agents. </a:t>
            </a:r>
          </a:p>
          <a:p>
            <a:pPr>
              <a:buFont typeface="+mj-lt"/>
              <a:buAutoNum type="arabicPeriod"/>
            </a:pPr>
            <a:r>
              <a:rPr lang="en-US" sz="1800" b="1" dirty="0"/>
              <a:t>Personalized Career Report</a:t>
            </a:r>
            <a:br>
              <a:rPr lang="en-US" sz="1800" dirty="0"/>
            </a:br>
            <a:r>
              <a:rPr lang="en-US" sz="1800" dirty="0"/>
              <a:t>The system presents a career readiness score, recommendations, skill gaps, and learning roadmap, with an option to download the report as a PDF.</a:t>
            </a:r>
          </a:p>
          <a:p>
            <a:endParaRPr lang="en-US"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161162"/>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3343970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5" name="TextBox 4">
            <a:extLst>
              <a:ext uri="{FF2B5EF4-FFF2-40B4-BE49-F238E27FC236}">
                <a16:creationId xmlns:a16="http://schemas.microsoft.com/office/drawing/2014/main" id="{C96ABEB3-602E-47FC-8BF8-F144CF71F93B}"/>
              </a:ext>
            </a:extLst>
          </p:cNvPr>
          <p:cNvSpPr txBox="1"/>
          <p:nvPr/>
        </p:nvSpPr>
        <p:spPr>
          <a:xfrm>
            <a:off x="428625" y="946297"/>
            <a:ext cx="9458325" cy="5940088"/>
          </a:xfrm>
          <a:prstGeom prst="rect">
            <a:avLst/>
          </a:prstGeom>
          <a:noFill/>
        </p:spPr>
        <p:txBody>
          <a:bodyPr wrap="square">
            <a:spAutoFit/>
          </a:bodyPr>
          <a:lstStyle/>
          <a:p>
            <a:pPr algn="l"/>
            <a:r>
              <a:rPr lang="en-US" sz="2000" b="1" i="0" dirty="0">
                <a:solidFill>
                  <a:schemeClr val="tx1"/>
                </a:solidFill>
                <a:effectLst/>
                <a:latin typeface="+mn-lt"/>
              </a:rPr>
              <a:t>Frontend</a:t>
            </a:r>
          </a:p>
          <a:p>
            <a:pPr algn="l">
              <a:buFont typeface="Arial" panose="020B0604020202020204" pitchFamily="34" charset="0"/>
              <a:buChar char="•"/>
            </a:pPr>
            <a:r>
              <a:rPr lang="en-US" sz="2000" b="1" i="0" dirty="0">
                <a:solidFill>
                  <a:schemeClr val="tx1"/>
                </a:solidFill>
                <a:effectLst/>
                <a:latin typeface="+mn-lt"/>
              </a:rPr>
              <a:t>React.js</a:t>
            </a:r>
            <a:r>
              <a:rPr lang="en-US" sz="2000" b="0" i="0" dirty="0">
                <a:solidFill>
                  <a:schemeClr val="tx1"/>
                </a:solidFill>
                <a:effectLst/>
                <a:latin typeface="+mn-lt"/>
              </a:rPr>
              <a:t> – Used to build the interactive user interface.</a:t>
            </a:r>
          </a:p>
          <a:p>
            <a:pPr algn="l">
              <a:buFont typeface="Arial" panose="020B0604020202020204" pitchFamily="34" charset="0"/>
              <a:buChar char="•"/>
            </a:pPr>
            <a:r>
              <a:rPr lang="en-US" sz="2000" b="1" i="0" dirty="0" err="1">
                <a:solidFill>
                  <a:schemeClr val="tx1"/>
                </a:solidFill>
                <a:effectLst/>
                <a:latin typeface="+mn-lt"/>
              </a:rPr>
              <a:t>Vite</a:t>
            </a:r>
            <a:r>
              <a:rPr lang="en-US" sz="2000" b="0" i="0" dirty="0">
                <a:solidFill>
                  <a:schemeClr val="tx1"/>
                </a:solidFill>
                <a:effectLst/>
                <a:latin typeface="+mn-lt"/>
              </a:rPr>
              <a:t> – Used as the frontend development and build tool.</a:t>
            </a:r>
          </a:p>
          <a:p>
            <a:pPr algn="l">
              <a:buFont typeface="Arial" panose="020B0604020202020204" pitchFamily="34" charset="0"/>
              <a:buChar char="•"/>
            </a:pPr>
            <a:r>
              <a:rPr lang="en-US" sz="2000" b="1" i="0" dirty="0">
                <a:solidFill>
                  <a:schemeClr val="tx1"/>
                </a:solidFill>
                <a:effectLst/>
                <a:latin typeface="+mn-lt"/>
              </a:rPr>
              <a:t>CSS</a:t>
            </a:r>
            <a:r>
              <a:rPr lang="en-US" sz="2000" b="0" i="0" dirty="0">
                <a:solidFill>
                  <a:schemeClr val="tx1"/>
                </a:solidFill>
                <a:effectLst/>
                <a:latin typeface="+mn-lt"/>
              </a:rPr>
              <a:t> – Used for styling and responsive UI design.</a:t>
            </a:r>
          </a:p>
          <a:p>
            <a:pPr algn="l">
              <a:buFont typeface="Arial" panose="020B0604020202020204" pitchFamily="34" charset="0"/>
              <a:buChar char="•"/>
            </a:pPr>
            <a:r>
              <a:rPr lang="en-US" sz="2000" b="1" i="0" dirty="0">
                <a:solidFill>
                  <a:schemeClr val="tx1"/>
                </a:solidFill>
                <a:effectLst/>
                <a:latin typeface="+mn-lt"/>
              </a:rPr>
              <a:t>React Markdown</a:t>
            </a:r>
            <a:r>
              <a:rPr lang="en-US" sz="2000" b="0" i="0" dirty="0">
                <a:solidFill>
                  <a:schemeClr val="tx1"/>
                </a:solidFill>
                <a:effectLst/>
                <a:latin typeface="+mn-lt"/>
              </a:rPr>
              <a:t> – Used to display AI-generated content in Markdown format.</a:t>
            </a:r>
          </a:p>
          <a:p>
            <a:pPr algn="l">
              <a:buFont typeface="Arial" panose="020B0604020202020204" pitchFamily="34" charset="0"/>
              <a:buChar char="•"/>
            </a:pPr>
            <a:r>
              <a:rPr lang="en-US" sz="2000" b="1" i="0" dirty="0" err="1">
                <a:solidFill>
                  <a:schemeClr val="tx1"/>
                </a:solidFill>
                <a:effectLst/>
                <a:latin typeface="+mn-lt"/>
              </a:rPr>
              <a:t>jsPDF</a:t>
            </a:r>
            <a:r>
              <a:rPr lang="en-US" sz="2000" b="0" i="0" dirty="0">
                <a:solidFill>
                  <a:schemeClr val="tx1"/>
                </a:solidFill>
                <a:effectLst/>
                <a:latin typeface="+mn-lt"/>
              </a:rPr>
              <a:t> – Used to generate downloadable career reports in PDF format.</a:t>
            </a:r>
          </a:p>
          <a:p>
            <a:pPr algn="l">
              <a:buFont typeface="Arial" panose="020B0604020202020204" pitchFamily="34" charset="0"/>
              <a:buChar char="•"/>
            </a:pPr>
            <a:r>
              <a:rPr lang="en-US" sz="2000" b="1" i="0" dirty="0">
                <a:solidFill>
                  <a:schemeClr val="tx1"/>
                </a:solidFill>
                <a:effectLst/>
                <a:latin typeface="+mn-lt"/>
              </a:rPr>
              <a:t>html2canvas</a:t>
            </a:r>
            <a:r>
              <a:rPr lang="en-US" sz="2000" b="0" i="0" dirty="0">
                <a:solidFill>
                  <a:schemeClr val="tx1"/>
                </a:solidFill>
                <a:effectLst/>
                <a:latin typeface="+mn-lt"/>
              </a:rPr>
              <a:t> – Used to capture the report interface for PDF generation.</a:t>
            </a:r>
          </a:p>
          <a:p>
            <a:pPr algn="l">
              <a:buFont typeface="Arial" panose="020B0604020202020204" pitchFamily="34" charset="0"/>
              <a:buChar char="•"/>
            </a:pPr>
            <a:endParaRPr lang="en-US" sz="2000" b="0" i="0" dirty="0">
              <a:solidFill>
                <a:schemeClr val="tx1"/>
              </a:solidFill>
              <a:effectLst/>
              <a:latin typeface="+mn-lt"/>
            </a:endParaRPr>
          </a:p>
          <a:p>
            <a:pPr algn="l"/>
            <a:r>
              <a:rPr lang="en-US" sz="2000" b="1" i="0" dirty="0">
                <a:solidFill>
                  <a:schemeClr val="tx1"/>
                </a:solidFill>
                <a:effectLst/>
                <a:latin typeface="+mn-lt"/>
              </a:rPr>
              <a:t>Backend</a:t>
            </a:r>
          </a:p>
          <a:p>
            <a:pPr algn="l">
              <a:buFont typeface="Arial" panose="020B0604020202020204" pitchFamily="34" charset="0"/>
              <a:buChar char="•"/>
            </a:pPr>
            <a:r>
              <a:rPr lang="en-US" sz="2000" b="1" i="0" dirty="0">
                <a:solidFill>
                  <a:schemeClr val="tx1"/>
                </a:solidFill>
                <a:effectLst/>
                <a:latin typeface="+mn-lt"/>
              </a:rPr>
              <a:t>Python</a:t>
            </a:r>
            <a:r>
              <a:rPr lang="en-US" sz="2000" b="0" i="0" dirty="0">
                <a:solidFill>
                  <a:schemeClr val="tx1"/>
                </a:solidFill>
                <a:effectLst/>
                <a:latin typeface="+mn-lt"/>
              </a:rPr>
              <a:t> – Main programming language for the backend and AI workflow.</a:t>
            </a:r>
          </a:p>
          <a:p>
            <a:pPr algn="l">
              <a:buFont typeface="Arial" panose="020B0604020202020204" pitchFamily="34" charset="0"/>
              <a:buChar char="•"/>
            </a:pPr>
            <a:r>
              <a:rPr lang="en-US" sz="2000" b="1" i="0" dirty="0" err="1">
                <a:solidFill>
                  <a:schemeClr val="tx1"/>
                </a:solidFill>
                <a:effectLst/>
                <a:latin typeface="+mn-lt"/>
              </a:rPr>
              <a:t>FastAPI</a:t>
            </a:r>
            <a:r>
              <a:rPr lang="en-US" sz="2000" b="0" i="0" dirty="0">
                <a:solidFill>
                  <a:schemeClr val="tx1"/>
                </a:solidFill>
                <a:effectLst/>
                <a:latin typeface="+mn-lt"/>
              </a:rPr>
              <a:t> – Provides the REST API and handles requests from the frontend.</a:t>
            </a:r>
          </a:p>
          <a:p>
            <a:pPr algn="l">
              <a:buFont typeface="Arial" panose="020B0604020202020204" pitchFamily="34" charset="0"/>
              <a:buChar char="•"/>
            </a:pPr>
            <a:r>
              <a:rPr lang="en-US" sz="2000" b="1" i="0" dirty="0" err="1">
                <a:solidFill>
                  <a:schemeClr val="tx1"/>
                </a:solidFill>
                <a:effectLst/>
                <a:latin typeface="+mn-lt"/>
              </a:rPr>
              <a:t>Pydantic</a:t>
            </a:r>
            <a:r>
              <a:rPr lang="en-US" sz="2000" b="0" i="0" dirty="0">
                <a:solidFill>
                  <a:schemeClr val="tx1"/>
                </a:solidFill>
                <a:effectLst/>
                <a:latin typeface="+mn-lt"/>
              </a:rPr>
              <a:t> – Used for data validation and structured request/response models.</a:t>
            </a:r>
          </a:p>
          <a:p>
            <a:pPr algn="l">
              <a:buFont typeface="Arial" panose="020B0604020202020204" pitchFamily="34" charset="0"/>
              <a:buChar char="•"/>
            </a:pPr>
            <a:r>
              <a:rPr lang="en-US" sz="2000" b="1" i="0" dirty="0" err="1">
                <a:solidFill>
                  <a:schemeClr val="tx1"/>
                </a:solidFill>
                <a:effectLst/>
                <a:latin typeface="+mn-lt"/>
              </a:rPr>
              <a:t>Uvicorn</a:t>
            </a:r>
            <a:r>
              <a:rPr lang="en-US" sz="2000" b="0" i="0" dirty="0">
                <a:solidFill>
                  <a:schemeClr val="tx1"/>
                </a:solidFill>
                <a:effectLst/>
                <a:latin typeface="+mn-lt"/>
              </a:rPr>
              <a:t> – Used to run the </a:t>
            </a:r>
            <a:r>
              <a:rPr lang="en-US" sz="2000" b="0" i="0" dirty="0" err="1">
                <a:solidFill>
                  <a:schemeClr val="tx1"/>
                </a:solidFill>
                <a:effectLst/>
                <a:latin typeface="+mn-lt"/>
              </a:rPr>
              <a:t>FastAPI</a:t>
            </a:r>
            <a:r>
              <a:rPr lang="en-US" sz="2000" b="0" i="0" dirty="0">
                <a:solidFill>
                  <a:schemeClr val="tx1"/>
                </a:solidFill>
                <a:effectLst/>
                <a:latin typeface="+mn-lt"/>
              </a:rPr>
              <a:t> application.</a:t>
            </a:r>
          </a:p>
          <a:p>
            <a:pPr algn="l">
              <a:buFont typeface="Arial" panose="020B0604020202020204" pitchFamily="34" charset="0"/>
              <a:buChar char="•"/>
            </a:pPr>
            <a:endParaRPr lang="en-US" sz="2000" b="0" i="0" dirty="0">
              <a:solidFill>
                <a:schemeClr val="tx1"/>
              </a:solidFill>
              <a:effectLst/>
              <a:latin typeface="+mn-lt"/>
            </a:endParaRPr>
          </a:p>
          <a:p>
            <a:r>
              <a:rPr lang="en-US" sz="2000" b="1" dirty="0"/>
              <a:t>Reporting</a:t>
            </a:r>
          </a:p>
          <a:p>
            <a:pPr>
              <a:buFont typeface="Arial" panose="020B0604020202020204" pitchFamily="34" charset="0"/>
              <a:buChar char="•"/>
            </a:pPr>
            <a:r>
              <a:rPr lang="en-US" sz="2000" b="1" dirty="0" err="1"/>
              <a:t>jsPDF</a:t>
            </a:r>
            <a:r>
              <a:rPr lang="en-US" sz="2000" dirty="0"/>
              <a:t> </a:t>
            </a:r>
          </a:p>
          <a:p>
            <a:pPr>
              <a:buFont typeface="Arial" panose="020B0604020202020204" pitchFamily="34" charset="0"/>
              <a:buChar char="•"/>
            </a:pPr>
            <a:r>
              <a:rPr lang="en-US" sz="2000" b="1" dirty="0"/>
              <a:t>Html2canvas</a:t>
            </a:r>
          </a:p>
          <a:p>
            <a:pPr>
              <a:buFont typeface="Arial" panose="020B0604020202020204" pitchFamily="34" charset="0"/>
              <a:buChar char="•"/>
            </a:pPr>
            <a:endParaRPr lang="en-US" sz="2000" b="1" dirty="0"/>
          </a:p>
          <a:p>
            <a:endParaRPr lang="en-US" sz="2000" dirty="0"/>
          </a:p>
        </p:txBody>
      </p:sp>
    </p:spTree>
    <p:extLst>
      <p:ext uri="{BB962C8B-B14F-4D97-AF65-F5344CB8AC3E}">
        <p14:creationId xmlns:p14="http://schemas.microsoft.com/office/powerpoint/2010/main" val="341334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514350" y="1085851"/>
            <a:ext cx="10778490" cy="6705374"/>
          </a:xfrm>
          <a:prstGeom prst="rect">
            <a:avLst/>
          </a:prstGeom>
          <a:noFill/>
        </p:spPr>
        <p:txBody>
          <a:bodyPr wrap="square" rtlCol="0">
            <a:spAutoFit/>
          </a:bodyPr>
          <a:lstStyle/>
          <a:p>
            <a:r>
              <a:rPr lang="en-US" sz="2000" b="1" dirty="0"/>
              <a:t>AI &amp; IBM Technologies</a:t>
            </a:r>
          </a:p>
          <a:p>
            <a:pPr>
              <a:buFont typeface="Arial" panose="020B0604020202020204" pitchFamily="34" charset="0"/>
              <a:buChar char="•"/>
            </a:pPr>
            <a:r>
              <a:rPr lang="en-US" sz="2000" b="1" dirty="0"/>
              <a:t>IBM Bob</a:t>
            </a:r>
            <a:r>
              <a:rPr lang="en-US" sz="2000" dirty="0"/>
              <a:t> – Visual development and orchestration of the agentic workflow </a:t>
            </a:r>
          </a:p>
          <a:p>
            <a:pPr>
              <a:buFont typeface="Arial" panose="020B0604020202020204" pitchFamily="34" charset="0"/>
              <a:buChar char="•"/>
            </a:pPr>
            <a:r>
              <a:rPr lang="en-US" sz="2000" b="1" dirty="0"/>
              <a:t>IBM Granite</a:t>
            </a:r>
            <a:r>
              <a:rPr lang="en-US" sz="2000" dirty="0"/>
              <a:t> – Generative AI model for natural language understanding, reasoning and personalized career guidance </a:t>
            </a:r>
          </a:p>
          <a:p>
            <a:pPr>
              <a:buFont typeface="Arial" panose="020B0604020202020204" pitchFamily="34" charset="0"/>
              <a:buChar char="•"/>
            </a:pPr>
            <a:r>
              <a:rPr lang="en-US" sz="2000" b="1" dirty="0"/>
              <a:t>IBM watsonx.ai</a:t>
            </a:r>
            <a:r>
              <a:rPr lang="en-US" sz="2000" dirty="0"/>
              <a:t> – AI platform for accessing and running Granite models </a:t>
            </a:r>
          </a:p>
          <a:p>
            <a:pPr>
              <a:buFont typeface="Arial" panose="020B0604020202020204" pitchFamily="34" charset="0"/>
              <a:buChar char="•"/>
            </a:pPr>
            <a:r>
              <a:rPr lang="en-US" sz="2000" b="1" dirty="0"/>
              <a:t>IBM Cloud</a:t>
            </a:r>
            <a:r>
              <a:rPr lang="en-US" sz="2000" dirty="0"/>
              <a:t> – Cloud infrastructure and AI services</a:t>
            </a:r>
          </a:p>
          <a:p>
            <a:pPr algn="l">
              <a:buFont typeface="Arial" panose="020B0604020202020204" pitchFamily="34" charset="0"/>
              <a:buChar char="•"/>
            </a:pPr>
            <a:r>
              <a:rPr lang="en-US" sz="2000" b="1" i="0" dirty="0">
                <a:solidFill>
                  <a:schemeClr val="tx1"/>
                </a:solidFill>
                <a:effectLst/>
                <a:latin typeface="-apple-system-body"/>
              </a:rPr>
              <a:t>Sequential Multi-Agent Workflow</a:t>
            </a:r>
            <a:r>
              <a:rPr lang="en-US" sz="2000" b="0" i="0" dirty="0">
                <a:solidFill>
                  <a:schemeClr val="tx1"/>
                </a:solidFill>
                <a:effectLst/>
                <a:latin typeface="-apple-system-body"/>
              </a:rPr>
              <a:t> – Four specialized agents work sequentially:</a:t>
            </a:r>
          </a:p>
          <a:p>
            <a:pPr marL="742950" lvl="1" indent="-285750" algn="l">
              <a:buFont typeface="Arial" panose="020B0604020202020204" pitchFamily="34" charset="0"/>
              <a:buChar char="•"/>
            </a:pPr>
            <a:r>
              <a:rPr lang="en-US" sz="2000" b="0" i="0" dirty="0">
                <a:solidFill>
                  <a:schemeClr val="tx1"/>
                </a:solidFill>
                <a:effectLst/>
                <a:latin typeface="-apple-system-body"/>
              </a:rPr>
              <a:t>Profile Analysis Agent</a:t>
            </a:r>
          </a:p>
          <a:p>
            <a:pPr marL="742950" lvl="1" indent="-285750" algn="l">
              <a:buFont typeface="Arial" panose="020B0604020202020204" pitchFamily="34" charset="0"/>
              <a:buChar char="•"/>
            </a:pPr>
            <a:r>
              <a:rPr lang="en-US" sz="2000" b="0" i="0" dirty="0">
                <a:solidFill>
                  <a:schemeClr val="tx1"/>
                </a:solidFill>
                <a:effectLst/>
                <a:latin typeface="-apple-system-body"/>
              </a:rPr>
              <a:t>Career Recommendation Agent</a:t>
            </a:r>
          </a:p>
          <a:p>
            <a:pPr marL="742950" lvl="1" indent="-285750" algn="l">
              <a:buFont typeface="Arial" panose="020B0604020202020204" pitchFamily="34" charset="0"/>
              <a:buChar char="•"/>
            </a:pPr>
            <a:r>
              <a:rPr lang="en-US" sz="2000" b="0" i="0" dirty="0">
                <a:solidFill>
                  <a:schemeClr val="tx1"/>
                </a:solidFill>
                <a:effectLst/>
                <a:latin typeface="-apple-system-body"/>
              </a:rPr>
              <a:t>Skill Gap Agent</a:t>
            </a:r>
          </a:p>
          <a:p>
            <a:pPr marL="742950" lvl="1" indent="-285750" algn="l">
              <a:buFont typeface="Arial" panose="020B0604020202020204" pitchFamily="34" charset="0"/>
              <a:buChar char="•"/>
            </a:pPr>
            <a:r>
              <a:rPr lang="en-US" sz="2000" b="0" i="0" dirty="0">
                <a:solidFill>
                  <a:schemeClr val="tx1"/>
                </a:solidFill>
                <a:effectLst/>
                <a:latin typeface="-apple-system-body"/>
              </a:rPr>
              <a:t>Learning Roadmap Agent</a:t>
            </a:r>
          </a:p>
          <a:p>
            <a:pPr marL="742950" lvl="1" indent="-285750" algn="l">
              <a:buFont typeface="Arial" panose="020B0604020202020204" pitchFamily="34" charset="0"/>
              <a:buChar char="•"/>
            </a:pPr>
            <a:endParaRPr lang="en-US" sz="2000" b="0" i="0" dirty="0">
              <a:solidFill>
                <a:schemeClr val="tx1"/>
              </a:solidFill>
              <a:effectLst/>
              <a:latin typeface="-apple-system-body"/>
            </a:endParaRPr>
          </a:p>
          <a:p>
            <a:r>
              <a:rPr lang="en-US" sz="2000" b="1" dirty="0"/>
              <a:t>Deployment &amp; Development</a:t>
            </a:r>
          </a:p>
          <a:p>
            <a:pPr>
              <a:buFont typeface="Arial" panose="020B0604020202020204" pitchFamily="34" charset="0"/>
              <a:buChar char="•"/>
            </a:pPr>
            <a:r>
              <a:rPr lang="en-US" sz="2000" b="1" dirty="0"/>
              <a:t>GitHub</a:t>
            </a:r>
            <a:r>
              <a:rPr lang="en-US" sz="2000" dirty="0"/>
              <a:t> – Version control and source-code management </a:t>
            </a:r>
          </a:p>
          <a:p>
            <a:pPr>
              <a:buFont typeface="Arial" panose="020B0604020202020204" pitchFamily="34" charset="0"/>
              <a:buChar char="•"/>
            </a:pPr>
            <a:r>
              <a:rPr lang="en-US" sz="2000" b="1" dirty="0" err="1"/>
              <a:t>Vercel</a:t>
            </a:r>
            <a:r>
              <a:rPr lang="en-US" sz="2000" dirty="0"/>
              <a:t> – Frontend deployment </a:t>
            </a:r>
          </a:p>
          <a:p>
            <a:pPr>
              <a:buFont typeface="Arial" panose="020B0604020202020204" pitchFamily="34" charset="0"/>
              <a:buChar char="•"/>
            </a:pPr>
            <a:r>
              <a:rPr lang="en-US" sz="2000" b="1" dirty="0"/>
              <a:t>Render</a:t>
            </a:r>
            <a:r>
              <a:rPr lang="en-US" sz="2000" dirty="0"/>
              <a:t> – Backend deployment</a:t>
            </a:r>
          </a:p>
          <a:p>
            <a:pPr marL="742950" lvl="1" indent="-285750" algn="l">
              <a:buFont typeface="Arial" panose="020B0604020202020204" pitchFamily="34" charset="0"/>
              <a:buChar char="•"/>
            </a:pPr>
            <a:endParaRPr lang="en-US" sz="2000" b="0" i="0" dirty="0">
              <a:solidFill>
                <a:schemeClr val="tx1"/>
              </a:solidFill>
              <a:effectLst/>
              <a:latin typeface="-apple-system-body"/>
            </a:endParaRPr>
          </a:p>
          <a:p>
            <a:pPr marL="457200" lvl="1" algn="l"/>
            <a:endParaRPr lang="en-US" sz="2000" b="0" i="0" dirty="0">
              <a:solidFill>
                <a:schemeClr val="tx1"/>
              </a:solidFill>
              <a:effectLst/>
              <a:latin typeface="-apple-system-body"/>
            </a:endParaRPr>
          </a:p>
          <a:p>
            <a:pPr>
              <a:buFont typeface="Arial" panose="020B0604020202020204" pitchFamily="34" charset="0"/>
              <a:buChar char="•"/>
            </a:pPr>
            <a:endParaRPr lang="en-US" sz="2000" dirty="0"/>
          </a:p>
          <a:p>
            <a:endParaRPr lang="en-IN" sz="2000" dirty="0"/>
          </a:p>
          <a:p>
            <a:endParaRPr lang="en-IN" sz="2000" dirty="0"/>
          </a:p>
        </p:txBody>
      </p:sp>
    </p:spTree>
    <p:extLst>
      <p:ext uri="{BB962C8B-B14F-4D97-AF65-F5344CB8AC3E}">
        <p14:creationId xmlns:p14="http://schemas.microsoft.com/office/powerpoint/2010/main" val="4221415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E85B0BA-3063-4038-8F9F-832297F01CFC}"/>
              </a:ext>
            </a:extLst>
          </p:cNvPr>
          <p:cNvPicPr>
            <a:picLocks noChangeAspect="1"/>
          </p:cNvPicPr>
          <p:nvPr/>
        </p:nvPicPr>
        <p:blipFill>
          <a:blip r:embed="rId4"/>
          <a:stretch>
            <a:fillRect/>
          </a:stretch>
        </p:blipFill>
        <p:spPr>
          <a:xfrm>
            <a:off x="3291714" y="1310753"/>
            <a:ext cx="8866831" cy="5086648"/>
          </a:xfrm>
          <a:prstGeom prst="rect">
            <a:avLst/>
          </a:prstGeom>
        </p:spPr>
      </p:pic>
      <p:sp>
        <p:nvSpPr>
          <p:cNvPr id="7" name="Oval 6">
            <a:extLst>
              <a:ext uri="{FF2B5EF4-FFF2-40B4-BE49-F238E27FC236}">
                <a16:creationId xmlns:a16="http://schemas.microsoft.com/office/drawing/2014/main" id="{66114DD8-2EB4-4EBA-BB13-E0F309C1B54F}"/>
              </a:ext>
            </a:extLst>
          </p:cNvPr>
          <p:cNvSpPr/>
          <p:nvPr/>
        </p:nvSpPr>
        <p:spPr>
          <a:xfrm>
            <a:off x="11582400" y="1460500"/>
            <a:ext cx="300182" cy="228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14963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8" name="Picture 7">
            <a:extLst>
              <a:ext uri="{FF2B5EF4-FFF2-40B4-BE49-F238E27FC236}">
                <a16:creationId xmlns:a16="http://schemas.microsoft.com/office/drawing/2014/main" id="{41C3BA85-67DC-4920-BDA0-B74B31EC543F}"/>
              </a:ext>
            </a:extLst>
          </p:cNvPr>
          <p:cNvPicPr>
            <a:picLocks noChangeAspect="1"/>
          </p:cNvPicPr>
          <p:nvPr/>
        </p:nvPicPr>
        <p:blipFill>
          <a:blip r:embed="rId3"/>
          <a:stretch>
            <a:fillRect/>
          </a:stretch>
        </p:blipFill>
        <p:spPr>
          <a:xfrm>
            <a:off x="215413" y="884870"/>
            <a:ext cx="11761174" cy="5846130"/>
          </a:xfrm>
          <a:prstGeom prst="rect">
            <a:avLst/>
          </a:prstGeom>
        </p:spPr>
      </p:pic>
      <p:sp>
        <p:nvSpPr>
          <p:cNvPr id="13" name="Rectangle 12">
            <a:extLst>
              <a:ext uri="{FF2B5EF4-FFF2-40B4-BE49-F238E27FC236}">
                <a16:creationId xmlns:a16="http://schemas.microsoft.com/office/drawing/2014/main" id="{9825DE3C-3E32-465F-BA7E-AE383FC61D51}"/>
              </a:ext>
            </a:extLst>
          </p:cNvPr>
          <p:cNvSpPr/>
          <p:nvPr/>
        </p:nvSpPr>
        <p:spPr>
          <a:xfrm>
            <a:off x="10579100" y="5727700"/>
            <a:ext cx="914400" cy="245430"/>
          </a:xfrm>
          <a:prstGeom prst="rect">
            <a:avLst/>
          </a:prstGeom>
          <a:solidFill>
            <a:schemeClr val="tx1">
              <a:lumMod val="85000"/>
              <a:lumOff val="15000"/>
            </a:schemeClr>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16545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346D34-EF2B-4008-99CA-3429FEC81059}"/>
              </a:ext>
            </a:extLst>
          </p:cNvPr>
          <p:cNvPicPr>
            <a:picLocks noChangeAspect="1"/>
          </p:cNvPicPr>
          <p:nvPr/>
        </p:nvPicPr>
        <p:blipFill>
          <a:blip r:embed="rId2"/>
          <a:stretch>
            <a:fillRect/>
          </a:stretch>
        </p:blipFill>
        <p:spPr>
          <a:xfrm>
            <a:off x="214148" y="850900"/>
            <a:ext cx="11474449" cy="5500149"/>
          </a:xfrm>
          <a:prstGeom prst="rect">
            <a:avLst/>
          </a:prstGeom>
        </p:spPr>
      </p:pic>
    </p:spTree>
    <p:extLst>
      <p:ext uri="{BB962C8B-B14F-4D97-AF65-F5344CB8AC3E}">
        <p14:creationId xmlns:p14="http://schemas.microsoft.com/office/powerpoint/2010/main" val="1455178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EF77B49C-D31D-43BD-9D01-7C3B82AB9BB3}"/>
              </a:ext>
            </a:extLst>
          </p:cNvPr>
          <p:cNvPicPr>
            <a:picLocks noChangeAspect="1"/>
          </p:cNvPicPr>
          <p:nvPr/>
        </p:nvPicPr>
        <p:blipFill>
          <a:blip r:embed="rId3"/>
          <a:stretch>
            <a:fillRect/>
          </a:stretch>
        </p:blipFill>
        <p:spPr>
          <a:xfrm>
            <a:off x="537591" y="666165"/>
            <a:ext cx="9738524" cy="603006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32384" y="911781"/>
            <a:ext cx="7157865" cy="2769989"/>
          </a:xfrm>
          <a:prstGeom prst="rect">
            <a:avLst/>
          </a:prstGeom>
          <a:noFill/>
        </p:spPr>
        <p:txBody>
          <a:bodyPr wrap="square" rtlCol="0">
            <a:spAutoFit/>
          </a:bodyPr>
          <a:lstStyle/>
          <a:p>
            <a:r>
              <a:rPr lang="en-US" sz="2000" b="1" dirty="0"/>
              <a:t>Role of Agentic AI in </a:t>
            </a:r>
            <a:r>
              <a:rPr lang="en-US" sz="2000" b="1" dirty="0" err="1"/>
              <a:t>CareerPilot</a:t>
            </a:r>
            <a:r>
              <a:rPr lang="en-US" sz="2000" b="1" dirty="0"/>
              <a:t> AI</a:t>
            </a:r>
          </a:p>
          <a:p>
            <a:r>
              <a:rPr lang="en-US" sz="2000" b="0" i="0" dirty="0">
                <a:solidFill>
                  <a:schemeClr val="tx1"/>
                </a:solidFill>
                <a:effectLst/>
                <a:latin typeface="+mn-lt"/>
              </a:rPr>
              <a:t>Agentic AI plays a central role in </a:t>
            </a:r>
            <a:r>
              <a:rPr lang="en-US" sz="2000" b="1" i="0" dirty="0" err="1">
                <a:solidFill>
                  <a:schemeClr val="tx1"/>
                </a:solidFill>
                <a:effectLst/>
                <a:latin typeface="+mn-lt"/>
              </a:rPr>
              <a:t>CareerPilot</a:t>
            </a:r>
            <a:r>
              <a:rPr lang="en-US" sz="2000" b="1" i="0" dirty="0">
                <a:solidFill>
                  <a:schemeClr val="tx1"/>
                </a:solidFill>
                <a:effectLst/>
                <a:latin typeface="+mn-lt"/>
              </a:rPr>
              <a:t> AI</a:t>
            </a:r>
            <a:r>
              <a:rPr lang="en-US" sz="2000" b="0" i="0" dirty="0">
                <a:solidFill>
                  <a:schemeClr val="tx1"/>
                </a:solidFill>
                <a:effectLst/>
                <a:latin typeface="+mn-lt"/>
              </a:rPr>
              <a:t> by dividing the career-guidance process into multiple specialized AI agents. Instead of providing a single generic response, each agent performs a specific task and passes its output to the next agent, creating a structured career-planning workflow</a:t>
            </a:r>
            <a:r>
              <a:rPr lang="en-US" sz="2000" b="0" i="0" dirty="0">
                <a:solidFill>
                  <a:schemeClr val="tx1"/>
                </a:solidFill>
                <a:effectLst/>
                <a:latin typeface="-apple-system-body"/>
              </a:rPr>
              <a:t>.</a:t>
            </a:r>
          </a:p>
          <a:p>
            <a:endParaRPr lang="en-US" sz="2000" b="0" i="0" dirty="0">
              <a:solidFill>
                <a:schemeClr val="tx1"/>
              </a:solidFill>
              <a:effectLst/>
              <a:latin typeface="-apple-system-body"/>
            </a:endParaRPr>
          </a:p>
          <a:p>
            <a:endParaRPr lang="en-US" sz="2000" b="1" dirty="0">
              <a:solidFill>
                <a:schemeClr val="tx1"/>
              </a:solidFill>
            </a:endParaRPr>
          </a:p>
          <a:p>
            <a:r>
              <a:rPr lang="en-US" dirty="0"/>
              <a:t>.</a:t>
            </a:r>
          </a:p>
        </p:txBody>
      </p:sp>
      <p:sp>
        <p:nvSpPr>
          <p:cNvPr id="6" name="Rectangle 3">
            <a:extLst>
              <a:ext uri="{FF2B5EF4-FFF2-40B4-BE49-F238E27FC236}">
                <a16:creationId xmlns:a16="http://schemas.microsoft.com/office/drawing/2014/main" id="{44664751-A430-4B6C-B5F0-96F792C56401}"/>
              </a:ext>
            </a:extLst>
          </p:cNvPr>
          <p:cNvSpPr>
            <a:spLocks noChangeArrowheads="1"/>
          </p:cNvSpPr>
          <p:nvPr/>
        </p:nvSpPr>
        <p:spPr bwMode="auto">
          <a:xfrm>
            <a:off x="475488" y="2819662"/>
            <a:ext cx="775411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The Profile Analysis Agent first analyzes the student’s academic background, skills, interests, and projects, after which the Career Recommendation Agent suggests suitable career paths. The Skill Gap Agent then identifies the skills the student needs to develop for the selected career, and the Learning Roadmap Agent creates a personalized step-by-step learning plan. By coordinating these agents and passing the output of one stage to the next, Agentic AI transforms student information into personalized, actionable career guidance, making the system more efficient, structured, and scalable.</a:t>
            </a:r>
          </a:p>
        </p:txBody>
      </p:sp>
    </p:spTree>
    <p:extLst>
      <p:ext uri="{BB962C8B-B14F-4D97-AF65-F5344CB8AC3E}">
        <p14:creationId xmlns:p14="http://schemas.microsoft.com/office/powerpoint/2010/main" val="4000696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9D96CCFF-E7A0-41F9-8728-D77AD209CD33}"/>
              </a:ext>
            </a:extLst>
          </p:cNvPr>
          <p:cNvPicPr>
            <a:picLocks noChangeAspect="1"/>
          </p:cNvPicPr>
          <p:nvPr/>
        </p:nvPicPr>
        <p:blipFill>
          <a:blip r:embed="rId4"/>
          <a:stretch>
            <a:fillRect/>
          </a:stretch>
        </p:blipFill>
        <p:spPr>
          <a:xfrm>
            <a:off x="316297" y="816977"/>
            <a:ext cx="11019360" cy="585987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8D142035-02D6-41AC-905E-3F0D073BD292}"/>
              </a:ext>
            </a:extLst>
          </p:cNvPr>
          <p:cNvPicPr>
            <a:picLocks noChangeAspect="1"/>
          </p:cNvPicPr>
          <p:nvPr/>
        </p:nvPicPr>
        <p:blipFill>
          <a:blip r:embed="rId3"/>
          <a:stretch>
            <a:fillRect/>
          </a:stretch>
        </p:blipFill>
        <p:spPr>
          <a:xfrm>
            <a:off x="673314" y="921654"/>
            <a:ext cx="9945488" cy="542048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E0399D58-95FE-4B5D-8B20-E79241967F4F}"/>
              </a:ext>
            </a:extLst>
          </p:cNvPr>
          <p:cNvPicPr>
            <a:picLocks noChangeAspect="1"/>
          </p:cNvPicPr>
          <p:nvPr/>
        </p:nvPicPr>
        <p:blipFill>
          <a:blip r:embed="rId3"/>
          <a:stretch>
            <a:fillRect/>
          </a:stretch>
        </p:blipFill>
        <p:spPr>
          <a:xfrm>
            <a:off x="1218724" y="669511"/>
            <a:ext cx="8535591" cy="592537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87A3E10-35D2-4AFE-89CA-FBCD33FF5B53}"/>
              </a:ext>
            </a:extLst>
          </p:cNvPr>
          <p:cNvPicPr>
            <a:picLocks noChangeAspect="1"/>
          </p:cNvPicPr>
          <p:nvPr/>
        </p:nvPicPr>
        <p:blipFill>
          <a:blip r:embed="rId3"/>
          <a:stretch>
            <a:fillRect/>
          </a:stretch>
        </p:blipFill>
        <p:spPr>
          <a:xfrm>
            <a:off x="804493" y="800029"/>
            <a:ext cx="9926435" cy="5792008"/>
          </a:xfrm>
          <a:prstGeom prst="rect">
            <a:avLst/>
          </a:prstGeom>
        </p:spPr>
      </p:pic>
    </p:spTree>
    <p:extLst>
      <p:ext uri="{BB962C8B-B14F-4D97-AF65-F5344CB8AC3E}">
        <p14:creationId xmlns:p14="http://schemas.microsoft.com/office/powerpoint/2010/main" val="3423850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4710385E-AB7D-4EC8-9593-A201CFA9DA9D}"/>
              </a:ext>
            </a:extLst>
          </p:cNvPr>
          <p:cNvPicPr>
            <a:picLocks noChangeAspect="1"/>
          </p:cNvPicPr>
          <p:nvPr/>
        </p:nvPicPr>
        <p:blipFill>
          <a:blip r:embed="rId3"/>
          <a:stretch>
            <a:fillRect/>
          </a:stretch>
        </p:blipFill>
        <p:spPr>
          <a:xfrm>
            <a:off x="975598" y="1095049"/>
            <a:ext cx="10240804" cy="4667901"/>
          </a:xfrm>
          <a:prstGeom prst="rect">
            <a:avLst/>
          </a:prstGeom>
        </p:spPr>
      </p:pic>
    </p:spTree>
    <p:extLst>
      <p:ext uri="{BB962C8B-B14F-4D97-AF65-F5344CB8AC3E}">
        <p14:creationId xmlns:p14="http://schemas.microsoft.com/office/powerpoint/2010/main" val="1785301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29CF01B6-6AB7-4C26-B164-8CDABA8B5D4E}"/>
              </a:ext>
            </a:extLst>
          </p:cNvPr>
          <p:cNvPicPr>
            <a:picLocks noChangeAspect="1"/>
          </p:cNvPicPr>
          <p:nvPr/>
        </p:nvPicPr>
        <p:blipFill>
          <a:blip r:embed="rId3"/>
          <a:stretch>
            <a:fillRect/>
          </a:stretch>
        </p:blipFill>
        <p:spPr>
          <a:xfrm>
            <a:off x="691016" y="711256"/>
            <a:ext cx="9735909" cy="5696745"/>
          </a:xfrm>
          <a:prstGeom prst="rect">
            <a:avLst/>
          </a:prstGeom>
        </p:spPr>
      </p:pic>
    </p:spTree>
    <p:extLst>
      <p:ext uri="{BB962C8B-B14F-4D97-AF65-F5344CB8AC3E}">
        <p14:creationId xmlns:p14="http://schemas.microsoft.com/office/powerpoint/2010/main" val="104103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0E51CAFA-667C-4BF3-B85E-C76F7B5B8338}"/>
              </a:ext>
            </a:extLst>
          </p:cNvPr>
          <p:cNvPicPr>
            <a:picLocks noChangeAspect="1"/>
          </p:cNvPicPr>
          <p:nvPr/>
        </p:nvPicPr>
        <p:blipFill>
          <a:blip r:embed="rId3"/>
          <a:stretch>
            <a:fillRect/>
          </a:stretch>
        </p:blipFill>
        <p:spPr>
          <a:xfrm>
            <a:off x="901945" y="1044263"/>
            <a:ext cx="9488224" cy="4877481"/>
          </a:xfrm>
          <a:prstGeom prst="rect">
            <a:avLst/>
          </a:prstGeom>
        </p:spPr>
      </p:pic>
    </p:spTree>
    <p:extLst>
      <p:ext uri="{BB962C8B-B14F-4D97-AF65-F5344CB8AC3E}">
        <p14:creationId xmlns:p14="http://schemas.microsoft.com/office/powerpoint/2010/main" val="51127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B7EC0B49-4121-4A96-85DA-758DD4BC7C71}"/>
              </a:ext>
            </a:extLst>
          </p:cNvPr>
          <p:cNvPicPr>
            <a:picLocks noChangeAspect="1"/>
          </p:cNvPicPr>
          <p:nvPr/>
        </p:nvPicPr>
        <p:blipFill>
          <a:blip r:embed="rId3"/>
          <a:stretch>
            <a:fillRect/>
          </a:stretch>
        </p:blipFill>
        <p:spPr>
          <a:xfrm>
            <a:off x="409144" y="780982"/>
            <a:ext cx="10724684" cy="5664317"/>
          </a:xfrm>
          <a:prstGeom prst="rect">
            <a:avLst/>
          </a:prstGeom>
        </p:spPr>
      </p:pic>
    </p:spTree>
    <p:extLst>
      <p:ext uri="{BB962C8B-B14F-4D97-AF65-F5344CB8AC3E}">
        <p14:creationId xmlns:p14="http://schemas.microsoft.com/office/powerpoint/2010/main" val="1683937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F748CBB4-59B1-4818-95DA-A24D7A3393B7}"/>
              </a:ext>
            </a:extLst>
          </p:cNvPr>
          <p:cNvPicPr>
            <a:picLocks noChangeAspect="1"/>
          </p:cNvPicPr>
          <p:nvPr/>
        </p:nvPicPr>
        <p:blipFill>
          <a:blip r:embed="rId3"/>
          <a:stretch>
            <a:fillRect/>
          </a:stretch>
        </p:blipFill>
        <p:spPr>
          <a:xfrm>
            <a:off x="918932" y="654996"/>
            <a:ext cx="9802593" cy="5925377"/>
          </a:xfrm>
          <a:prstGeom prst="rect">
            <a:avLst/>
          </a:prstGeom>
        </p:spPr>
      </p:pic>
    </p:spTree>
    <p:extLst>
      <p:ext uri="{BB962C8B-B14F-4D97-AF65-F5344CB8AC3E}">
        <p14:creationId xmlns:p14="http://schemas.microsoft.com/office/powerpoint/2010/main" val="1884912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462F7A2A-9C96-4856-A7BD-0751A3B43A10}"/>
              </a:ext>
            </a:extLst>
          </p:cNvPr>
          <p:cNvPicPr>
            <a:picLocks noChangeAspect="1"/>
          </p:cNvPicPr>
          <p:nvPr/>
        </p:nvPicPr>
        <p:blipFill>
          <a:blip r:embed="rId4"/>
          <a:stretch>
            <a:fillRect/>
          </a:stretch>
        </p:blipFill>
        <p:spPr>
          <a:xfrm>
            <a:off x="528802" y="688338"/>
            <a:ext cx="10640910" cy="5858693"/>
          </a:xfrm>
          <a:prstGeom prst="rect">
            <a:avLst/>
          </a:prstGeom>
        </p:spPr>
      </p:pic>
    </p:spTree>
    <p:extLst>
      <p:ext uri="{BB962C8B-B14F-4D97-AF65-F5344CB8AC3E}">
        <p14:creationId xmlns:p14="http://schemas.microsoft.com/office/powerpoint/2010/main" val="4208047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57ABB1C3-50C2-43B6-BA09-0E31AC55B4ED}"/>
              </a:ext>
            </a:extLst>
          </p:cNvPr>
          <p:cNvPicPr>
            <a:picLocks noChangeAspect="1"/>
          </p:cNvPicPr>
          <p:nvPr/>
        </p:nvPicPr>
        <p:blipFill>
          <a:blip r:embed="rId3"/>
          <a:stretch>
            <a:fillRect/>
          </a:stretch>
        </p:blipFill>
        <p:spPr>
          <a:xfrm>
            <a:off x="656261" y="644796"/>
            <a:ext cx="10317015" cy="5858693"/>
          </a:xfrm>
          <a:prstGeom prst="rect">
            <a:avLst/>
          </a:prstGeom>
        </p:spPr>
      </p:pic>
    </p:spTree>
    <p:extLst>
      <p:ext uri="{BB962C8B-B14F-4D97-AF65-F5344CB8AC3E}">
        <p14:creationId xmlns:p14="http://schemas.microsoft.com/office/powerpoint/2010/main" val="729710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A100395F-38ED-4D35-B434-378A9B8208C3}"/>
              </a:ext>
            </a:extLst>
          </p:cNvPr>
          <p:cNvPicPr>
            <a:picLocks noChangeAspect="1"/>
          </p:cNvPicPr>
          <p:nvPr/>
        </p:nvPicPr>
        <p:blipFill>
          <a:blip r:embed="rId4"/>
          <a:stretch>
            <a:fillRect/>
          </a:stretch>
        </p:blipFill>
        <p:spPr>
          <a:xfrm>
            <a:off x="560998" y="709104"/>
            <a:ext cx="10412278" cy="6068272"/>
          </a:xfrm>
          <a:prstGeom prst="rect">
            <a:avLst/>
          </a:prstGeom>
        </p:spPr>
      </p:pic>
    </p:spTree>
    <p:extLst>
      <p:ext uri="{BB962C8B-B14F-4D97-AF65-F5344CB8AC3E}">
        <p14:creationId xmlns:p14="http://schemas.microsoft.com/office/powerpoint/2010/main" val="3252080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57235"/>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5" name="Rectangle 2">
            <a:extLst>
              <a:ext uri="{FF2B5EF4-FFF2-40B4-BE49-F238E27FC236}">
                <a16:creationId xmlns:a16="http://schemas.microsoft.com/office/drawing/2014/main" id="{A11D7778-3DC4-46F2-9C13-464DA31A6DEC}"/>
              </a:ext>
            </a:extLst>
          </p:cNvPr>
          <p:cNvSpPr>
            <a:spLocks noChangeArrowheads="1"/>
          </p:cNvSpPr>
          <p:nvPr/>
        </p:nvSpPr>
        <p:spPr bwMode="auto">
          <a:xfrm>
            <a:off x="595085" y="879802"/>
            <a:ext cx="930365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Multi-Agent AI Approach</a:t>
            </a:r>
            <a:r>
              <a:rPr kumimoji="0" lang="en-US" altLang="en-US" sz="2000" b="0" i="0" u="none" strike="noStrike" cap="none" normalizeH="0" baseline="0" dirty="0">
                <a:ln>
                  <a:noFill/>
                </a:ln>
                <a:solidFill>
                  <a:schemeClr val="tx1"/>
                </a:solidFill>
                <a:effectLst/>
                <a:latin typeface="Arial" panose="020B0604020202020204" pitchFamily="34" charset="0"/>
              </a:rPr>
              <a:t> – Uses specialized AI agents for different career-planning tasks.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Personalized Career Guidance</a:t>
            </a:r>
            <a:r>
              <a:rPr kumimoji="0" lang="en-US" altLang="en-US" sz="2000" b="0" i="0" u="none" strike="noStrike" cap="none" normalizeH="0" baseline="0" dirty="0">
                <a:ln>
                  <a:noFill/>
                </a:ln>
                <a:solidFill>
                  <a:schemeClr val="tx1"/>
                </a:solidFill>
                <a:effectLst/>
                <a:latin typeface="Arial" panose="020B0604020202020204" pitchFamily="34" charset="0"/>
              </a:rPr>
              <a:t> – Recommendations are based on individual skills, interests, education, and projects.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Automated Skill-Gap Analysis</a:t>
            </a:r>
            <a:r>
              <a:rPr kumimoji="0" lang="en-US" altLang="en-US" sz="2000" b="0" i="0" u="none" strike="noStrike" cap="none" normalizeH="0" baseline="0" dirty="0">
                <a:ln>
                  <a:noFill/>
                </a:ln>
                <a:solidFill>
                  <a:schemeClr val="tx1"/>
                </a:solidFill>
                <a:effectLst/>
                <a:latin typeface="Arial" panose="020B0604020202020204" pitchFamily="34" charset="0"/>
              </a:rPr>
              <a:t> – Identifies missing skills required for the target career.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Personalized Learning Roadmap</a:t>
            </a:r>
            <a:r>
              <a:rPr kumimoji="0" lang="en-US" altLang="en-US" sz="2000" b="0" i="0" u="none" strike="noStrike" cap="none" normalizeH="0" baseline="0" dirty="0">
                <a:ln>
                  <a:noFill/>
                </a:ln>
                <a:solidFill>
                  <a:schemeClr val="tx1"/>
                </a:solidFill>
                <a:effectLst/>
                <a:latin typeface="Arial" panose="020B0604020202020204" pitchFamily="34" charset="0"/>
              </a:rPr>
              <a:t> – Converts skill gaps into a structured, step-by-step development plan.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End-to-End Career Planning</a:t>
            </a:r>
            <a:r>
              <a:rPr kumimoji="0" lang="en-US" altLang="en-US" sz="2000" b="0" i="0" u="none" strike="noStrike" cap="none" normalizeH="0" baseline="0" dirty="0">
                <a:ln>
                  <a:noFill/>
                </a:ln>
                <a:solidFill>
                  <a:schemeClr val="tx1"/>
                </a:solidFill>
                <a:effectLst/>
                <a:latin typeface="Arial" panose="020B0604020202020204" pitchFamily="34" charset="0"/>
              </a:rPr>
              <a:t> – Integrates profile analysis, career selection, skill assessment, and learning guidance in one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Career Readiness Assessment</a:t>
            </a:r>
            <a:r>
              <a:rPr kumimoji="0" lang="en-US" altLang="en-US" sz="2000" b="0" i="0" u="none" strike="noStrike" cap="none" normalizeH="0" baseline="0" dirty="0">
                <a:ln>
                  <a:noFill/>
                </a:ln>
                <a:solidFill>
                  <a:schemeClr val="tx1"/>
                </a:solidFill>
                <a:effectLst/>
                <a:latin typeface="Arial" panose="020B0604020202020204" pitchFamily="34" charset="0"/>
              </a:rPr>
              <a:t> – Provides an overall indication of the student's current career preparation.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Action-Oriented Guidance</a:t>
            </a:r>
            <a:r>
              <a:rPr kumimoji="0" lang="en-US" altLang="en-US" sz="2000" b="0" i="0" u="none" strike="noStrike" cap="none" normalizeH="0" baseline="0" dirty="0">
                <a:ln>
                  <a:noFill/>
                </a:ln>
                <a:solidFill>
                  <a:schemeClr val="tx1"/>
                </a:solidFill>
                <a:effectLst/>
                <a:latin typeface="Arial" panose="020B0604020202020204" pitchFamily="34" charset="0"/>
              </a:rPr>
              <a:t> – Moves beyond generic career suggestions to provide clear and practical next steps.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5282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957466" y="1290499"/>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400" b="0" i="0" u="none" strike="noStrike" cap="none" dirty="0">
                <a:solidFill>
                  <a:srgbClr val="2B3541"/>
                </a:solidFill>
                <a:latin typeface="Times New Roman"/>
                <a:ea typeface="Times New Roman"/>
                <a:cs typeface="Times New Roman"/>
                <a:sym typeface="Times New Roman"/>
              </a:rPr>
              <a:t>GitHub: https://github.com/AnetColin/CareerPilot-AI.git</a:t>
            </a:r>
          </a:p>
          <a:p>
            <a:pPr marL="0" marR="0" lvl="0" indent="0" algn="l" rtl="0">
              <a:lnSpc>
                <a:spcPct val="162162"/>
              </a:lnSpc>
              <a:spcBef>
                <a:spcPts val="0"/>
              </a:spcBef>
              <a:spcAft>
                <a:spcPts val="0"/>
              </a:spcAft>
              <a:buClr>
                <a:srgbClr val="2B3541"/>
              </a:buClr>
              <a:buSzPts val="1850"/>
              <a:buFont typeface="Times New Roman"/>
              <a:buNone/>
            </a:pPr>
            <a:r>
              <a:rPr lang="en-US" sz="2400" b="0" i="0" u="none" strike="noStrike" cap="none" dirty="0">
                <a:solidFill>
                  <a:srgbClr val="2B3541"/>
                </a:solidFill>
                <a:latin typeface="Times New Roman"/>
                <a:ea typeface="Times New Roman"/>
                <a:cs typeface="Times New Roman"/>
                <a:sym typeface="Times New Roman"/>
              </a:rPr>
              <a:t>Backend API: https://careerpilot-ai-backend-uydp.onrender.com/</a:t>
            </a:r>
          </a:p>
          <a:p>
            <a:pPr marL="0" marR="0" lvl="0" indent="0" algn="l" rtl="0">
              <a:lnSpc>
                <a:spcPct val="162162"/>
              </a:lnSpc>
              <a:spcBef>
                <a:spcPts val="0"/>
              </a:spcBef>
              <a:spcAft>
                <a:spcPts val="0"/>
              </a:spcAft>
              <a:buClr>
                <a:srgbClr val="2B3541"/>
              </a:buClr>
              <a:buSzPts val="1850"/>
              <a:buFont typeface="Times New Roman"/>
              <a:buNone/>
            </a:pPr>
            <a:r>
              <a:rPr lang="en-US" sz="2400" b="0" i="0" u="none" strike="noStrike" cap="none" dirty="0">
                <a:solidFill>
                  <a:srgbClr val="2B3541"/>
                </a:solidFill>
                <a:latin typeface="Times New Roman"/>
                <a:ea typeface="Times New Roman"/>
                <a:cs typeface="Times New Roman"/>
                <a:sym typeface="Times New Roman"/>
              </a:rPr>
              <a:t>Frontend: https://career-pilot-dn8rxgopb-anetcolins-projects.vercel.app/</a:t>
            </a:r>
          </a:p>
          <a:p>
            <a:pPr marL="0" marR="0" lvl="0" indent="0" algn="l" rtl="0">
              <a:lnSpc>
                <a:spcPct val="162162"/>
              </a:lnSpc>
              <a:spcBef>
                <a:spcPts val="0"/>
              </a:spcBef>
              <a:spcAft>
                <a:spcPts val="0"/>
              </a:spcAft>
              <a:buClr>
                <a:srgbClr val="2B3541"/>
              </a:buClr>
              <a:buSzPts val="1850"/>
              <a:buFont typeface="Times New Roman"/>
              <a:buNone/>
            </a:pPr>
            <a:endParaRPr sz="24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378045" y="4184857"/>
            <a:ext cx="9258459"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5C555DD9-7B58-4721-8061-7DB3BD0DF04D}"/>
              </a:ext>
            </a:extLst>
          </p:cNvPr>
          <p:cNvSpPr>
            <a:spLocks noChangeArrowheads="1"/>
          </p:cNvSpPr>
          <p:nvPr/>
        </p:nvSpPr>
        <p:spPr bwMode="auto">
          <a:xfrm>
            <a:off x="672868" y="772737"/>
            <a:ext cx="10668812"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Real-Time Job Market Integration</a:t>
            </a:r>
            <a:r>
              <a:rPr kumimoji="0" lang="en-US" altLang="en-US" sz="2000" b="0" i="0" u="none" strike="noStrike" cap="none" normalizeH="0" baseline="0" dirty="0">
                <a:ln>
                  <a:noFill/>
                </a:ln>
                <a:solidFill>
                  <a:schemeClr val="tx1"/>
                </a:solidFill>
                <a:effectLst/>
                <a:latin typeface="Arial" panose="020B0604020202020204" pitchFamily="34" charset="0"/>
              </a:rPr>
              <a:t> – Use live job data to align recommendations with current industry demand.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Resume &amp; Portfolio Analysis</a:t>
            </a:r>
            <a:r>
              <a:rPr kumimoji="0" lang="en-US" altLang="en-US" sz="2000" b="0" i="0" u="none" strike="noStrike" cap="none" normalizeH="0" baseline="0" dirty="0">
                <a:ln>
                  <a:noFill/>
                </a:ln>
                <a:solidFill>
                  <a:schemeClr val="tx1"/>
                </a:solidFill>
                <a:effectLst/>
                <a:latin typeface="Arial" panose="020B0604020202020204" pitchFamily="34" charset="0"/>
              </a:rPr>
              <a:t> – Analyze resumes, GitHub profiles, and portfolios to assess career readiness.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Advanced Career Matching</a:t>
            </a:r>
            <a:r>
              <a:rPr kumimoji="0" lang="en-US" altLang="en-US" sz="2000" b="0" i="0" u="none" strike="noStrike" cap="none" normalizeH="0" baseline="0" dirty="0">
                <a:ln>
                  <a:noFill/>
                </a:ln>
                <a:solidFill>
                  <a:schemeClr val="tx1"/>
                </a:solidFill>
                <a:effectLst/>
                <a:latin typeface="Arial" panose="020B0604020202020204" pitchFamily="34" charset="0"/>
              </a:rPr>
              <a:t> – Match students with specific job roles based on skills and experience.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Progress Tracking</a:t>
            </a:r>
            <a:r>
              <a:rPr kumimoji="0" lang="en-US" altLang="en-US" sz="2000" b="0" i="0" u="none" strike="noStrike" cap="none" normalizeH="0" baseline="0" dirty="0">
                <a:ln>
                  <a:noFill/>
                </a:ln>
                <a:solidFill>
                  <a:schemeClr val="tx1"/>
                </a:solidFill>
                <a:effectLst/>
                <a:latin typeface="Arial" panose="020B0604020202020204" pitchFamily="34" charset="0"/>
              </a:rPr>
              <a:t> – Monitor learning progress and dynamically update career roadmaps.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Smarter Agent Collaboration</a:t>
            </a:r>
            <a:r>
              <a:rPr kumimoji="0" lang="en-US" altLang="en-US" sz="2000" b="0" i="0" u="none" strike="noStrike" cap="none" normalizeH="0" baseline="0" dirty="0">
                <a:ln>
                  <a:noFill/>
                </a:ln>
                <a:solidFill>
                  <a:schemeClr val="tx1"/>
                </a:solidFill>
                <a:effectLst/>
                <a:latin typeface="Arial" panose="020B0604020202020204" pitchFamily="34" charset="0"/>
              </a:rPr>
              <a:t> – Introduce feedback and validation between agents for more reliable recommendations.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Course Recommendation</a:t>
            </a:r>
            <a:r>
              <a:rPr kumimoji="0" lang="en-US" altLang="en-US" sz="2000" b="0" i="0" u="none" strike="noStrike" cap="none" normalizeH="0" baseline="0" dirty="0">
                <a:ln>
                  <a:noFill/>
                </a:ln>
                <a:solidFill>
                  <a:schemeClr val="tx1"/>
                </a:solidFill>
                <a:effectLst/>
                <a:latin typeface="Arial" panose="020B0604020202020204" pitchFamily="34" charset="0"/>
              </a:rPr>
              <a:t> – Suggest relevant courses, certifications, and learning resources.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AI Career Mentor</a:t>
            </a:r>
            <a:r>
              <a:rPr kumimoji="0" lang="en-US" altLang="en-US" sz="2000" b="0" i="0" u="none" strike="noStrike" cap="none" normalizeH="0" baseline="0" dirty="0">
                <a:ln>
                  <a:noFill/>
                </a:ln>
                <a:solidFill>
                  <a:schemeClr val="tx1"/>
                </a:solidFill>
                <a:effectLst/>
                <a:latin typeface="Arial" panose="020B0604020202020204" pitchFamily="34" charset="0"/>
              </a:rPr>
              <a:t> – Provide continuous conversational guidance and personalized feedback.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Industry &amp; Regional Personalization</a:t>
            </a:r>
            <a:r>
              <a:rPr kumimoji="0" lang="en-US" altLang="en-US" sz="2000" b="0" i="0" u="none" strike="noStrike" cap="none" normalizeH="0" baseline="0" dirty="0">
                <a:ln>
                  <a:noFill/>
                </a:ln>
                <a:solidFill>
                  <a:schemeClr val="tx1"/>
                </a:solidFill>
                <a:effectLst/>
                <a:latin typeface="Arial" panose="020B0604020202020204" pitchFamily="34" charset="0"/>
              </a:rPr>
              <a:t> – Adapt recommendations based on location, industry trends, and career opportunities.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Continuous Learning</a:t>
            </a:r>
            <a:r>
              <a:rPr kumimoji="0" lang="en-US" altLang="en-US" sz="2000" b="0" i="0" u="none" strike="noStrike" cap="none" normalizeH="0" baseline="0" dirty="0">
                <a:ln>
                  <a:noFill/>
                </a:ln>
                <a:solidFill>
                  <a:schemeClr val="tx1"/>
                </a:solidFill>
                <a:effectLst/>
                <a:latin typeface="Arial" panose="020B0604020202020204" pitchFamily="34" charset="0"/>
              </a:rPr>
              <a:t> – Automatically update recommendations as the student's skills, interests, and goals evolve.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0028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971A0BC4-3FBD-4F08-BD7A-AC827A84498D}"/>
              </a:ext>
            </a:extLst>
          </p:cNvPr>
          <p:cNvPicPr>
            <a:picLocks noChangeAspect="1"/>
          </p:cNvPicPr>
          <p:nvPr/>
        </p:nvPicPr>
        <p:blipFill>
          <a:blip r:embed="rId3"/>
          <a:stretch>
            <a:fillRect/>
          </a:stretch>
        </p:blipFill>
        <p:spPr>
          <a:xfrm>
            <a:off x="1214437" y="1092867"/>
            <a:ext cx="9143999" cy="5557753"/>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6">
            <a:extLst>
              <a:ext uri="{FF2B5EF4-FFF2-40B4-BE49-F238E27FC236}">
                <a16:creationId xmlns:a16="http://schemas.microsoft.com/office/drawing/2014/main" id="{C2689399-7F8C-4AB7-A5C9-BC2048162522}"/>
              </a:ext>
            </a:extLst>
          </p:cNvPr>
          <p:cNvPicPr>
            <a:picLocks noChangeAspect="1"/>
          </p:cNvPicPr>
          <p:nvPr/>
        </p:nvPicPr>
        <p:blipFill>
          <a:blip r:embed="rId3"/>
          <a:stretch>
            <a:fillRect/>
          </a:stretch>
        </p:blipFill>
        <p:spPr>
          <a:xfrm>
            <a:off x="1285203" y="1200580"/>
            <a:ext cx="9621593" cy="516252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TotalTime>
  <Words>1640</Words>
  <Application>Microsoft Office PowerPoint</Application>
  <PresentationFormat>Widescreen</PresentationFormat>
  <Paragraphs>222</Paragraphs>
  <Slides>30</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-apple-system-body</vt: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Anet Rockey</cp:lastModifiedBy>
  <cp:revision>6</cp:revision>
  <dcterms:created xsi:type="dcterms:W3CDTF">2025-07-08T05:06:56Z</dcterms:created>
  <dcterms:modified xsi:type="dcterms:W3CDTF">2026-09-05T17:09:38Z</dcterms:modified>
</cp:coreProperties>
</file>