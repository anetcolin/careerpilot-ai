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 like Agriculture / Education / Healthcare / … ]</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t>
            </a:r>
            <a:r>
              <a:rPr lang="en-US" sz="2400" b="1">
                <a:highlight>
                  <a:srgbClr val="FFFF00"/>
                </a:highlight>
              </a:rPr>
              <a:t>[</a:t>
            </a:r>
            <a:r>
              <a:rPr lang="en-US" sz="2400" b="1">
                <a:solidFill>
                  <a:srgbClr val="002060"/>
                </a:solidFill>
                <a:highlight>
                  <a:srgbClr val="FFFF00"/>
                </a:highlight>
                <a:latin typeface="Times New Roman"/>
                <a:ea typeface="Times New Roman"/>
                <a:cs typeface="Times New Roman"/>
                <a:sym typeface="Times New Roman"/>
              </a:rPr>
              <a:t>Write your project title here</a:t>
            </a:r>
            <a:r>
              <a:rPr lang="en-US" sz="2400" b="1">
                <a:highlight>
                  <a:srgbClr val="FFFF00"/>
                </a:highlight>
              </a:rPr>
              <a:t>]</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a:p>
          <a:p>
            <a:r>
              <a:rPr lang="en-US" b="1"/>
              <a:t>Proposed Solution: AI-Powered Nutrition Agent</a:t>
            </a:r>
          </a:p>
          <a:p>
            <a:r>
              <a:rPr lang="en-US"/>
              <a:t>The proposed solution is a </a:t>
            </a:r>
            <a:r>
              <a:rPr lang="en-US" b="1"/>
              <a:t>multi-agent AI-powered Nutrition Agent</a:t>
            </a:r>
            <a:r>
              <a:rPr lang="en-US"/>
              <a:t> built using </a:t>
            </a:r>
            <a:r>
              <a:rPr lang="en-US" b="1"/>
              <a:t>IBM Bob, IBM watsonx.ai, and Granite Models</a:t>
            </a:r>
            <a:r>
              <a:rPr lang="en-US"/>
              <a:t> to provide personalized, real-time dietary guidance. The system addresses challenges in diet planning, nutrition tracking, and preventive healthcare through an intelligent, modular architecture.</a:t>
            </a:r>
          </a:p>
          <a:p>
            <a:r>
              <a:rPr lang="en-US"/>
              <a:t>At its core, the solution uses a </a:t>
            </a:r>
            <a:r>
              <a:rPr lang="en-US" b="1"/>
              <a:t>Retrieval-Augmented Generation (RAG)</a:t>
            </a:r>
            <a:r>
              <a:rPr lang="en-US"/>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a:t>The system consists of four key agents:</a:t>
            </a:r>
          </a:p>
          <a:p>
            <a:r>
              <a:rPr lang="en-US" b="1"/>
              <a:t>Nutrition Knowledge Agent</a:t>
            </a:r>
            <a:r>
              <a:rPr lang="en-US"/>
              <a:t> retrieves and summarizes nutritional information using RAG. </a:t>
            </a:r>
          </a:p>
          <a:p>
            <a:r>
              <a:rPr lang="en-US" b="1"/>
              <a:t>Diet Recommendation Agent</a:t>
            </a:r>
            <a:r>
              <a:rPr lang="en-US"/>
              <a:t> generates personalized meal plans based on user inputs such as age, health conditions, dietary preferences, and fitness goals. </a:t>
            </a:r>
          </a:p>
          <a:p>
            <a:r>
              <a:rPr lang="en-US" b="1"/>
              <a:t>Health Advisory Agent</a:t>
            </a:r>
            <a:r>
              <a:rPr lang="en-US"/>
              <a:t> provides preventive health suggestions, including disease-specific diets (e.g., diabetes-friendly or heart-healthy plans). </a:t>
            </a:r>
          </a:p>
          <a:p>
            <a:r>
              <a:rPr lang="en-US" b="1"/>
              <a:t>Food Log &amp; Feedback Agent</a:t>
            </a:r>
            <a:r>
              <a:rPr lang="en-US"/>
              <a:t> allows users to log meals via text, voice, or images and delivers instant nutritional analysis with actionable feedback. </a:t>
            </a:r>
          </a:p>
          <a:p>
            <a:r>
              <a:rPr lang="en-US"/>
              <a:t>The solution includes a </a:t>
            </a:r>
            <a:r>
              <a:rPr lang="en-US" b="1"/>
              <a:t>user-friendly dashboard</a:t>
            </a:r>
            <a:r>
              <a:rPr lang="en-US"/>
              <a:t> (built with </a:t>
            </a:r>
            <a:r>
              <a:rPr lang="en-US" err="1"/>
              <a:t>Streamlit</a:t>
            </a:r>
            <a:r>
              <a:rPr lang="en-US"/>
              <a:t> or React) that visualizes daily and weekly nutrient intake, highlights deficiencies, and tracks progress toward health goals.</a:t>
            </a:r>
          </a:p>
          <a:p>
            <a:r>
              <a:rPr lang="en-US"/>
              <a:t>IBM Bob is used to orchestrate agent workflows, while watsonx.ai ensures scalable model deployment, embeddings, and AI governance. Granite models power reasoning, summarization, and personalization.</a:t>
            </a:r>
          </a:p>
          <a:p>
            <a:r>
              <a:rPr lang="en-US"/>
              <a:t>Overall, this solution delivers an </a:t>
            </a:r>
            <a:r>
              <a:rPr lang="en-US" b="1"/>
              <a:t>end-to-end intelligent nutrition assistant</a:t>
            </a:r>
            <a:r>
              <a:rPr lang="en-US"/>
              <a:t> that promotes healthier lifestyles through personalized insights, real-time feedback, and preventive healthcare recommendations.</a:t>
            </a:r>
          </a:p>
          <a:p>
            <a:pPr fontAlgn="base"/>
            <a:endParaRPr lang="en-US"/>
          </a:p>
          <a:p>
            <a:endParaRPr lang="en-IN"/>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a:t>IBM Bob platform </a:t>
            </a:r>
            <a:r>
              <a:rPr lang="en-US" sz="180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a:t>
            </a:r>
            <a:r>
              <a:rPr lang="en-US" sz="1800" b="1" err="1"/>
              <a:t>Grainte</a:t>
            </a:r>
            <a:r>
              <a:rPr lang="en-US" sz="1800" b="1"/>
              <a:t> model </a:t>
            </a:r>
            <a:r>
              <a:rPr lang="en-US" sz="1800"/>
              <a:t>-  for </a:t>
            </a:r>
            <a:r>
              <a:rPr lang="en-US" sz="1800" err="1"/>
              <a:t>eg</a:t>
            </a:r>
            <a:r>
              <a:rPr lang="en-US" sz="180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a:p>
          <a:p>
            <a:pPr marL="342900" indent="-342900">
              <a:buFont typeface="+mj-lt"/>
              <a:buAutoNum type="arabicPeriod"/>
            </a:pPr>
            <a:r>
              <a:rPr lang="en-US" sz="1800"/>
              <a:t>App.py</a:t>
            </a:r>
          </a:p>
          <a:p>
            <a:pPr marL="342900" indent="-342900">
              <a:buFont typeface="+mj-lt"/>
              <a:buAutoNum type="arabicPeriod"/>
            </a:pPr>
            <a:endParaRPr lang="en-US" sz="1800"/>
          </a:p>
          <a:p>
            <a:pPr marL="342900" indent="-342900">
              <a:buFont typeface="+mj-lt"/>
              <a:buAutoNum type="arabicPeriod"/>
            </a:pPr>
            <a:r>
              <a:rPr lang="en-US" sz="1800"/>
              <a:t>Requirements.txt</a:t>
            </a:r>
          </a:p>
          <a:p>
            <a:pPr marL="342900" indent="-342900">
              <a:buFont typeface="+mj-lt"/>
              <a:buAutoNum type="arabicPeriod"/>
            </a:pPr>
            <a:endParaRPr lang="en-US" sz="1800"/>
          </a:p>
          <a:p>
            <a:pPr marL="342900" indent="-342900">
              <a:buFont typeface="+mj-lt"/>
              <a:buAutoNum type="arabicPeriod"/>
            </a:pPr>
            <a:r>
              <a:rPr lang="en-US" sz="1800"/>
              <a:t>Style.css </a:t>
            </a:r>
          </a:p>
          <a:p>
            <a:pPr marL="342900" indent="-342900">
              <a:buFont typeface="+mj-lt"/>
              <a:buAutoNum type="arabicPeriod"/>
            </a:pPr>
            <a:endParaRPr lang="en-US" sz="1800"/>
          </a:p>
          <a:p>
            <a:pPr marL="342900" indent="-342900">
              <a:buFont typeface="+mj-lt"/>
              <a:buAutoNum type="arabicPeriod"/>
            </a:pPr>
            <a:r>
              <a:rPr lang="en-US" sz="1800"/>
              <a:t>.env</a:t>
            </a:r>
          </a:p>
          <a:p>
            <a:pPr marL="342900" indent="-342900">
              <a:buFont typeface="+mj-lt"/>
              <a:buAutoNum type="arabicPeriod"/>
            </a:pPr>
            <a:endParaRPr lang="en-US" sz="1800"/>
          </a:p>
          <a:p>
            <a:pPr marL="342900" indent="-342900">
              <a:buFont typeface="+mj-lt"/>
              <a:buAutoNum type="arabicPeriod"/>
            </a:pPr>
            <a:r>
              <a:rPr lang="en-US" sz="1800"/>
              <a:t>Index.html</a:t>
            </a:r>
          </a:p>
          <a:p>
            <a:endParaRPr lang="en-US"/>
          </a:p>
          <a:p>
            <a:endParaRPr lang="en-US"/>
          </a:p>
          <a:p>
            <a:endParaRPr lang="en-US"/>
          </a:p>
          <a:p>
            <a:endParaRPr lang="en-US"/>
          </a:p>
          <a:p>
            <a:endParaRPr lang="en-US"/>
          </a:p>
          <a:p>
            <a:endParaRPr lang="en-US"/>
          </a:p>
          <a:p>
            <a:endParaRPr lang="en-US"/>
          </a:p>
          <a:p>
            <a:endParaRPr lang="en-US"/>
          </a:p>
          <a:p>
            <a:r>
              <a:rPr lang="en-US"/>
              <a:t> </a:t>
            </a:r>
            <a:endParaRPr lang="en-IN"/>
          </a:p>
        </p:txBody>
      </p:sp>
      <p:pic>
        <p:nvPicPr>
          <p:cNvPr id="5" name="Picture 4">
            <a:extLst>
              <a:ext uri="{FF2B5EF4-FFF2-40B4-BE49-F238E27FC236}">
                <a16:creationId xmlns:a16="http://schemas.microsoft.com/office/drawing/2014/main" id="{61F38907-89DE-28F7-316F-44E7DAB9309E}"/>
              </a:ext>
            </a:extLst>
          </p:cNvPr>
          <p:cNvPicPr>
            <a:picLocks noChangeAspect="1"/>
          </p:cNvPicPr>
          <p:nvPr/>
        </p:nvPicPr>
        <p:blipFill>
          <a:blip r:embed="rId3"/>
          <a:stretch>
            <a:fillRect/>
          </a:stretch>
        </p:blipFill>
        <p:spPr>
          <a:xfrm>
            <a:off x="4014215" y="1860506"/>
            <a:ext cx="7868367" cy="4512862"/>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5DC7512A-0AA7-CC22-D1D2-C738BF12660E}"/>
              </a:ext>
            </a:extLst>
          </p:cNvPr>
          <p:cNvPicPr>
            <a:picLocks noChangeAspect="1"/>
          </p:cNvPicPr>
          <p:nvPr/>
        </p:nvPicPr>
        <p:blipFill>
          <a:blip r:embed="rId3"/>
          <a:stretch>
            <a:fillRect/>
          </a:stretch>
        </p:blipFill>
        <p:spPr>
          <a:xfrm>
            <a:off x="1371600" y="964760"/>
            <a:ext cx="9217740" cy="572864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tretch>
            <a:fillRect/>
          </a:stretch>
        </p:blipFill>
        <p:spPr>
          <a:xfrm>
            <a:off x="157335" y="400546"/>
            <a:ext cx="11145396"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tretch>
            <a:fillRect/>
          </a:stretch>
        </p:blipFill>
        <p:spPr>
          <a:xfrm>
            <a:off x="409144" y="885593"/>
            <a:ext cx="11163874" cy="571529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tretch>
            <a:fillRect/>
          </a:stretch>
        </p:blipFill>
        <p:spPr>
          <a:xfrm>
            <a:off x="561749" y="1004536"/>
            <a:ext cx="10493347" cy="528840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800029"/>
            <a:ext cx="10583014" cy="594501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 Please create public </a:t>
            </a:r>
            <a:r>
              <a:rPr lang="en-US" sz="1850" b="0" i="0" u="none" strike="noStrike" cap="none" err="1">
                <a:solidFill>
                  <a:srgbClr val="2B3541"/>
                </a:solidFill>
                <a:latin typeface="Times New Roman"/>
                <a:ea typeface="Times New Roman"/>
                <a:cs typeface="Times New Roman"/>
                <a:sym typeface="Times New Roman"/>
              </a:rPr>
              <a:t>github</a:t>
            </a:r>
            <a:r>
              <a:rPr lang="en-US" sz="1850" b="0" i="0" u="none" strike="noStrike" cap="none">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Please test and Paste the working  </a:t>
            </a:r>
            <a:r>
              <a:rPr lang="en-US" sz="1850" err="1">
                <a:solidFill>
                  <a:srgbClr val="2B3541"/>
                </a:solidFill>
                <a:latin typeface="Times New Roman"/>
                <a:ea typeface="Times New Roman"/>
                <a:cs typeface="Times New Roman"/>
                <a:sym typeface="Times New Roman"/>
              </a:rPr>
              <a:t>Github</a:t>
            </a:r>
            <a:r>
              <a:rPr lang="en-US" sz="185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a:solidFill>
                  <a:srgbClr val="2B3541"/>
                </a:solidFill>
                <a:latin typeface="Times New Roman"/>
                <a:ea typeface="Times New Roman"/>
                <a:cs typeface="Times New Roman"/>
                <a:sym typeface="Times New Roman"/>
              </a:rPr>
              <a:t>Make sure you have Uploaded following three files into your </a:t>
            </a:r>
            <a:r>
              <a:rPr lang="en-US" sz="1850" b="1" err="1">
                <a:solidFill>
                  <a:srgbClr val="2B3541"/>
                </a:solidFill>
                <a:latin typeface="Times New Roman"/>
                <a:ea typeface="Times New Roman"/>
                <a:cs typeface="Times New Roman"/>
                <a:sym typeface="Times New Roman"/>
              </a:rPr>
              <a:t>github</a:t>
            </a:r>
            <a:r>
              <a:rPr lang="en-US" sz="1850" b="1">
                <a:solidFill>
                  <a:srgbClr val="2B3541"/>
                </a:solidFill>
                <a:latin typeface="Times New Roman"/>
                <a:ea typeface="Times New Roman"/>
                <a:cs typeface="Times New Roman"/>
                <a:sym typeface="Times New Roman"/>
              </a:rPr>
              <a:t> repository  </a:t>
            </a:r>
            <a:br>
              <a:rPr lang="en-US" sz="1850">
                <a:solidFill>
                  <a:srgbClr val="2B3541"/>
                </a:solidFill>
                <a:latin typeface="Times New Roman"/>
                <a:ea typeface="Times New Roman"/>
                <a:cs typeface="Times New Roman"/>
                <a:sym typeface="Times New Roman"/>
              </a:rPr>
            </a:br>
            <a:r>
              <a:rPr lang="en-US" sz="185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grpSp>
        <p:nvGrpSpPr>
          <p:cNvPr id="8" name="Group 7">
            <a:extLst>
              <a:ext uri="{FF2B5EF4-FFF2-40B4-BE49-F238E27FC236}">
                <a16:creationId xmlns:a16="http://schemas.microsoft.com/office/drawing/2014/main" id="{F8E1A664-937F-0995-A503-E9C101158D8C}"/>
              </a:ext>
            </a:extLst>
          </p:cNvPr>
          <p:cNvGrpSpPr/>
          <p:nvPr/>
        </p:nvGrpSpPr>
        <p:grpSpPr>
          <a:xfrm>
            <a:off x="2407123" y="1423459"/>
            <a:ext cx="6389964" cy="4744480"/>
            <a:chOff x="2023664" y="1423459"/>
            <a:chExt cx="6389964" cy="4744480"/>
          </a:xfrm>
        </p:grpSpPr>
        <p:pic>
          <p:nvPicPr>
            <p:cNvPr id="5" name="Picture 4">
              <a:extLst>
                <a:ext uri="{FF2B5EF4-FFF2-40B4-BE49-F238E27FC236}">
                  <a16:creationId xmlns:a16="http://schemas.microsoft.com/office/drawing/2014/main" id="{ECA1DC75-9677-2534-42C6-0CCDB0680091}"/>
                </a:ext>
              </a:extLst>
            </p:cNvPr>
            <p:cNvPicPr>
              <a:picLocks noChangeAspect="1"/>
            </p:cNvPicPr>
            <p:nvPr/>
          </p:nvPicPr>
          <p:blipFill>
            <a:blip r:embed="rId2"/>
            <a:stretch>
              <a:fillRect/>
            </a:stretch>
          </p:blipFill>
          <p:spPr>
            <a:xfrm>
              <a:off x="2023664" y="1423459"/>
              <a:ext cx="6389964" cy="4744480"/>
            </a:xfrm>
            <a:prstGeom prst="rect">
              <a:avLst/>
            </a:prstGeom>
          </p:spPr>
        </p:pic>
        <p:sp>
          <p:nvSpPr>
            <p:cNvPr id="7" name="Rectangle 6">
              <a:extLst>
                <a:ext uri="{FF2B5EF4-FFF2-40B4-BE49-F238E27FC236}">
                  <a16:creationId xmlns:a16="http://schemas.microsoft.com/office/drawing/2014/main" id="{633BADBC-6623-0D21-CD7E-B05CE0A81B97}"/>
                </a:ext>
              </a:extLst>
            </p:cNvPr>
            <p:cNvSpPr/>
            <p:nvPr/>
          </p:nvSpPr>
          <p:spPr>
            <a:xfrm>
              <a:off x="2458065" y="2979175"/>
              <a:ext cx="4414683" cy="4498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1428</Words>
  <Application>Microsoft Office PowerPoint</Application>
  <PresentationFormat>Widescreen</PresentationFormat>
  <Paragraphs>142</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Aswini Kumar Motapothula</cp:lastModifiedBy>
  <cp:revision>2</cp:revision>
  <dcterms:created xsi:type="dcterms:W3CDTF">2025-07-08T05:06:56Z</dcterms:created>
  <dcterms:modified xsi:type="dcterms:W3CDTF">2026-09-03T06:31:25Z</dcterms:modified>
</cp:coreProperties>
</file>